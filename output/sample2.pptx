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Primary Block"/>
          <p:cNvSpPr/>
          <p:nvPr/>
        </p:nvSpPr>
        <p:spPr>
          <a:xfrm>
            <a:off x="731520" y="502920"/>
            <a:ext cx="502920" cy="5852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Bottom Accent"/>
          <p:cNvSpPr/>
          <p:nvPr/>
        </p:nvSpPr>
        <p:spPr>
          <a:xfrm>
            <a:off x="1600200" y="5230368"/>
            <a:ext cx="3383280" cy="8229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 Decorative Block"/>
          <p:cNvSpPr/>
          <p:nvPr/>
        </p:nvSpPr>
        <p:spPr>
          <a:xfrm>
            <a:off x="9189720" y="4526280"/>
            <a:ext cx="2267712" cy="141732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ver Decorative Circle Large"/>
          <p:cNvSpPr/>
          <p:nvPr/>
        </p:nvSpPr>
        <p:spPr>
          <a:xfrm>
            <a:off x="9372600" y="1051560"/>
            <a:ext cx="1207008" cy="1207008"/>
          </a:xfrm>
          <a:prstGeom prst="ellipse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ver Decorative Circle Small"/>
          <p:cNvSpPr/>
          <p:nvPr/>
        </p:nvSpPr>
        <p:spPr>
          <a:xfrm>
            <a:off x="10533888" y="2057400"/>
            <a:ext cx="640080" cy="64008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ver Title"/>
          <p:cNvSpPr txBox="1"/>
          <p:nvPr/>
        </p:nvSpPr>
        <p:spPr>
          <a:xfrm>
            <a:off x="1600200" y="1417320"/>
            <a:ext cx="74523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11111"/>
                </a:solidFill>
                <a:latin typeface="Microsoft YaHei"/>
              </a:rPr>
              <a:t>为什么我们要用 Rust 重写核心服务</a:t>
            </a:r>
          </a:p>
        </p:txBody>
      </p:sp>
      <p:sp>
        <p:nvSpPr>
          <p:cNvPr id="8" name="Cover Subtitle"/>
          <p:cNvSpPr txBox="1"/>
          <p:nvPr/>
        </p:nvSpPr>
        <p:spPr>
          <a:xfrm>
            <a:off x="1627632" y="3154680"/>
            <a:ext cx="7178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Microsoft YaHei"/>
              </a:rPr>
              <a:t>工程团队技术分享 · 动机、取舍与迁移路径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wo Column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11111"/>
                </a:solidFill>
                <a:latin typeface="Microsoft YaHei"/>
              </a:rPr>
              <a:t>核心服务正承受越来越大的压力</a:t>
            </a:r>
          </a:p>
        </p:txBody>
      </p:sp>
      <p:sp>
        <p:nvSpPr>
          <p:cNvPr id="3" name="Two Column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wo Column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wo Column Left Panel"/>
          <p:cNvSpPr/>
          <p:nvPr/>
        </p:nvSpPr>
        <p:spPr>
          <a:xfrm>
            <a:off x="731520" y="1481328"/>
            <a:ext cx="5209031" cy="4709160"/>
          </a:xfrm>
          <a:prstGeom prst="roundRect">
            <a:avLst/>
          </a:prstGeom>
          <a:solidFill>
            <a:srgbClr val="EAEAEA"/>
          </a:solidFill>
          <a:ln w="1270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wo Column Left Header"/>
          <p:cNvSpPr/>
          <p:nvPr/>
        </p:nvSpPr>
        <p:spPr>
          <a:xfrm>
            <a:off x="731520" y="1481328"/>
            <a:ext cx="5209031" cy="71323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wo Column Left Title"/>
          <p:cNvSpPr txBox="1"/>
          <p:nvPr/>
        </p:nvSpPr>
        <p:spPr>
          <a:xfrm>
            <a:off x="987552" y="1572768"/>
            <a:ext cx="469696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性能与资源</a:t>
            </a:r>
          </a:p>
        </p:txBody>
      </p:sp>
      <p:sp>
        <p:nvSpPr>
          <p:cNvPr id="8" name="Two Column Left Bullet 1"/>
          <p:cNvSpPr/>
          <p:nvPr/>
        </p:nvSpPr>
        <p:spPr>
          <a:xfrm>
            <a:off x="1024128" y="2615184"/>
            <a:ext cx="128016" cy="128016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wo Column Left Item 1"/>
          <p:cNvSpPr txBox="1"/>
          <p:nvPr/>
        </p:nvSpPr>
        <p:spPr>
          <a:xfrm>
            <a:off x="1298448" y="246888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高峰期请求堆积，扩容主要靠加机器，成本随流量上涨</a:t>
            </a:r>
          </a:p>
        </p:txBody>
      </p:sp>
      <p:sp>
        <p:nvSpPr>
          <p:cNvPr id="10" name="Two Column Left Bullet 2"/>
          <p:cNvSpPr/>
          <p:nvPr/>
        </p:nvSpPr>
        <p:spPr>
          <a:xfrm>
            <a:off x="1024128" y="3773424"/>
            <a:ext cx="128016" cy="128016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wo Column Left Item 2"/>
          <p:cNvSpPr txBox="1"/>
          <p:nvPr/>
        </p:nvSpPr>
        <p:spPr>
          <a:xfrm>
            <a:off x="1298448" y="362712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长尾延迟难以预测，个别慢请求影响整体响应</a:t>
            </a:r>
          </a:p>
        </p:txBody>
      </p:sp>
      <p:sp>
        <p:nvSpPr>
          <p:cNvPr id="12" name="Two Column Left Bullet 3"/>
          <p:cNvSpPr/>
          <p:nvPr/>
        </p:nvSpPr>
        <p:spPr>
          <a:xfrm>
            <a:off x="1024128" y="4931664"/>
            <a:ext cx="128016" cy="128016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wo Column Left Item 3"/>
          <p:cNvSpPr txBox="1"/>
          <p:nvPr/>
        </p:nvSpPr>
        <p:spPr>
          <a:xfrm>
            <a:off x="1298448" y="478536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内存占用随并发增长，资源利用率不稳定</a:t>
            </a:r>
          </a:p>
        </p:txBody>
      </p:sp>
      <p:sp>
        <p:nvSpPr>
          <p:cNvPr id="14" name="Two Column Right Panel"/>
          <p:cNvSpPr/>
          <p:nvPr/>
        </p:nvSpPr>
        <p:spPr>
          <a:xfrm>
            <a:off x="6251447" y="1481328"/>
            <a:ext cx="5209031" cy="4709160"/>
          </a:xfrm>
          <a:prstGeom prst="roundRect">
            <a:avLst/>
          </a:prstGeom>
          <a:solidFill>
            <a:srgbClr val="F1F1F1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wo Column Right Header"/>
          <p:cNvSpPr/>
          <p:nvPr/>
        </p:nvSpPr>
        <p:spPr>
          <a:xfrm>
            <a:off x="6251447" y="1481328"/>
            <a:ext cx="5209031" cy="7132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wo Column Right Title"/>
          <p:cNvSpPr txBox="1"/>
          <p:nvPr/>
        </p:nvSpPr>
        <p:spPr>
          <a:xfrm>
            <a:off x="6507479" y="1572768"/>
            <a:ext cx="469696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稳定性与工程效率</a:t>
            </a:r>
          </a:p>
        </p:txBody>
      </p:sp>
      <p:sp>
        <p:nvSpPr>
          <p:cNvPr id="17" name="Two Column Right Bullet 1"/>
          <p:cNvSpPr/>
          <p:nvPr/>
        </p:nvSpPr>
        <p:spPr>
          <a:xfrm>
            <a:off x="6544055" y="2615184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wo Column Right Item 1"/>
          <p:cNvSpPr txBox="1"/>
          <p:nvPr/>
        </p:nvSpPr>
        <p:spPr>
          <a:xfrm>
            <a:off x="6818375" y="246888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并发场景下的内存与数据竞争问题排查成本高</a:t>
            </a:r>
          </a:p>
        </p:txBody>
      </p:sp>
      <p:sp>
        <p:nvSpPr>
          <p:cNvPr id="19" name="Two Column Right Bullet 2"/>
          <p:cNvSpPr/>
          <p:nvPr/>
        </p:nvSpPr>
        <p:spPr>
          <a:xfrm>
            <a:off x="6544055" y="3773424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wo Column Right Item 2"/>
          <p:cNvSpPr txBox="1"/>
          <p:nvPr/>
        </p:nvSpPr>
        <p:spPr>
          <a:xfrm>
            <a:off x="6818375" y="362712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运行期错误难以在编译阶段拦截，问题常在线上暴露</a:t>
            </a:r>
          </a:p>
        </p:txBody>
      </p:sp>
      <p:sp>
        <p:nvSpPr>
          <p:cNvPr id="21" name="Two Column Right Bullet 3"/>
          <p:cNvSpPr/>
          <p:nvPr/>
        </p:nvSpPr>
        <p:spPr>
          <a:xfrm>
            <a:off x="6544055" y="4931664"/>
            <a:ext cx="128016" cy="12801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wo Column Right Item 3"/>
          <p:cNvSpPr txBox="1"/>
          <p:nvPr/>
        </p:nvSpPr>
        <p:spPr>
          <a:xfrm>
            <a:off x="6818375" y="4785360"/>
            <a:ext cx="4367783" cy="1158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代码改动的影响范围不易评估，回归测试负担重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ullets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11111"/>
                </a:solidFill>
                <a:latin typeface="Microsoft YaHei"/>
              </a:rPr>
              <a:t>继续打补丁已无法解决根因</a:t>
            </a:r>
          </a:p>
        </p:txBody>
      </p:sp>
      <p:sp>
        <p:nvSpPr>
          <p:cNvPr id="3" name="Bullets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ullets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ullet Card 1"/>
          <p:cNvSpPr/>
          <p:nvPr/>
        </p:nvSpPr>
        <p:spPr>
          <a:xfrm>
            <a:off x="731520" y="1572768"/>
            <a:ext cx="10728959" cy="8686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Number 1 Circle"/>
          <p:cNvSpPr/>
          <p:nvPr/>
        </p:nvSpPr>
        <p:spPr>
          <a:xfrm>
            <a:off x="960120" y="1815084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llet Number 1 Text"/>
          <p:cNvSpPr txBox="1"/>
          <p:nvPr/>
        </p:nvSpPr>
        <p:spPr>
          <a:xfrm>
            <a:off x="960120" y="18150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Bullet Text 1"/>
          <p:cNvSpPr txBox="1"/>
          <p:nvPr/>
        </p:nvSpPr>
        <p:spPr>
          <a:xfrm>
            <a:off x="1572768" y="1645920"/>
            <a:ext cx="94640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问题多集中在语言与运行时层面，属于结构性约束，而非个别模块的实现缺陷</a:t>
            </a:r>
          </a:p>
        </p:txBody>
      </p:sp>
      <p:sp>
        <p:nvSpPr>
          <p:cNvPr id="9" name="Bullet Card 2"/>
          <p:cNvSpPr/>
          <p:nvPr/>
        </p:nvSpPr>
        <p:spPr>
          <a:xfrm>
            <a:off x="731520" y="2551176"/>
            <a:ext cx="10728959" cy="8686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ullet Number 2 Circle"/>
          <p:cNvSpPr/>
          <p:nvPr/>
        </p:nvSpPr>
        <p:spPr>
          <a:xfrm>
            <a:off x="960120" y="2793492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ullet Number 2 Text"/>
          <p:cNvSpPr txBox="1"/>
          <p:nvPr/>
        </p:nvSpPr>
        <p:spPr>
          <a:xfrm>
            <a:off x="960120" y="27934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Bullet Text 2"/>
          <p:cNvSpPr txBox="1"/>
          <p:nvPr/>
        </p:nvSpPr>
        <p:spPr>
          <a:xfrm>
            <a:off x="1572768" y="2624328"/>
            <a:ext cx="94640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局部优化只能推迟问题出现，随着流量与业务复杂度上升会再次失效</a:t>
            </a:r>
          </a:p>
        </p:txBody>
      </p:sp>
      <p:sp>
        <p:nvSpPr>
          <p:cNvPr id="13" name="Bullet Card 3"/>
          <p:cNvSpPr/>
          <p:nvPr/>
        </p:nvSpPr>
        <p:spPr>
          <a:xfrm>
            <a:off x="731520" y="3529584"/>
            <a:ext cx="10728959" cy="8686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ullet Number 3 Circle"/>
          <p:cNvSpPr/>
          <p:nvPr/>
        </p:nvSpPr>
        <p:spPr>
          <a:xfrm>
            <a:off x="960120" y="3771900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ullet Number 3 Text"/>
          <p:cNvSpPr txBox="1"/>
          <p:nvPr/>
        </p:nvSpPr>
        <p:spPr>
          <a:xfrm>
            <a:off x="960120" y="37719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6" name="Bullet Text 3"/>
          <p:cNvSpPr txBox="1"/>
          <p:nvPr/>
        </p:nvSpPr>
        <p:spPr>
          <a:xfrm>
            <a:off x="1572768" y="3602736"/>
            <a:ext cx="94640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团队在排查与维护上的投入持续增加，挤压了新功能的开发空间</a:t>
            </a:r>
          </a:p>
        </p:txBody>
      </p:sp>
      <p:sp>
        <p:nvSpPr>
          <p:cNvPr id="17" name="Bullet Card 4"/>
          <p:cNvSpPr/>
          <p:nvPr/>
        </p:nvSpPr>
        <p:spPr>
          <a:xfrm>
            <a:off x="731520" y="4507992"/>
            <a:ext cx="10728959" cy="8686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ullet Number 4 Circle"/>
          <p:cNvSpPr/>
          <p:nvPr/>
        </p:nvSpPr>
        <p:spPr>
          <a:xfrm>
            <a:off x="960120" y="4750308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ullet Number 4 Text"/>
          <p:cNvSpPr txBox="1"/>
          <p:nvPr/>
        </p:nvSpPr>
        <p:spPr>
          <a:xfrm>
            <a:off x="960120" y="47503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0" name="Bullet Text 4"/>
          <p:cNvSpPr txBox="1"/>
          <p:nvPr/>
        </p:nvSpPr>
        <p:spPr>
          <a:xfrm>
            <a:off x="1572768" y="4581144"/>
            <a:ext cx="94640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越晚调整，历史包袱越重，迁移代价越高</a:t>
            </a:r>
          </a:p>
        </p:txBody>
      </p:sp>
      <p:sp>
        <p:nvSpPr>
          <p:cNvPr id="21" name="Bullet Card 5"/>
          <p:cNvSpPr/>
          <p:nvPr/>
        </p:nvSpPr>
        <p:spPr>
          <a:xfrm>
            <a:off x="731520" y="5486400"/>
            <a:ext cx="10728959" cy="8686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ullet Number 5 Circle"/>
          <p:cNvSpPr/>
          <p:nvPr/>
        </p:nvSpPr>
        <p:spPr>
          <a:xfrm>
            <a:off x="960120" y="5728716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ullet Number 5 Text"/>
          <p:cNvSpPr txBox="1"/>
          <p:nvPr/>
        </p:nvSpPr>
        <p:spPr>
          <a:xfrm>
            <a:off x="960120" y="572871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4" name="Bullet Text 5"/>
          <p:cNvSpPr txBox="1"/>
          <p:nvPr/>
        </p:nvSpPr>
        <p:spPr>
          <a:xfrm>
            <a:off x="1572768" y="5559552"/>
            <a:ext cx="94640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需要一次系统性的技术选型，而不是持续的权宜之计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Divider"/>
          <p:cNvSpPr/>
          <p:nvPr/>
        </p:nvSpPr>
        <p:spPr>
          <a:xfrm>
            <a:off x="3218688" y="1143000"/>
            <a:ext cx="73152" cy="44805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Bottom Accent"/>
          <p:cNvSpPr/>
          <p:nvPr/>
        </p:nvSpPr>
        <p:spPr>
          <a:xfrm>
            <a:off x="3767328" y="4983480"/>
            <a:ext cx="3337560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Decorative Node"/>
          <p:cNvSpPr/>
          <p:nvPr/>
        </p:nvSpPr>
        <p:spPr>
          <a:xfrm>
            <a:off x="10469880" y="777240"/>
            <a:ext cx="685800" cy="685800"/>
          </a:xfrm>
          <a:prstGeom prst="ellipse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 Number"/>
          <p:cNvSpPr txBox="1"/>
          <p:nvPr/>
        </p:nvSpPr>
        <p:spPr>
          <a:xfrm>
            <a:off x="914400" y="1508760"/>
            <a:ext cx="192024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666666"/>
                </a:solidFill>
                <a:latin typeface="Microsoft YaHei"/>
              </a:rPr>
              <a:t>01</a:t>
            </a:r>
          </a:p>
        </p:txBody>
      </p:sp>
      <p:sp>
        <p:nvSpPr>
          <p:cNvPr id="6" name="Section Title"/>
          <p:cNvSpPr txBox="1"/>
          <p:nvPr/>
        </p:nvSpPr>
        <p:spPr>
          <a:xfrm>
            <a:off x="3767328" y="1737360"/>
            <a:ext cx="69951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Microsoft YaHei"/>
              </a:rPr>
              <a:t>为什么是 Rust</a:t>
            </a:r>
          </a:p>
        </p:txBody>
      </p:sp>
      <p:sp>
        <p:nvSpPr>
          <p:cNvPr id="7" name="Section Subtitle"/>
          <p:cNvSpPr txBox="1"/>
          <p:nvPr/>
        </p:nvSpPr>
        <p:spPr>
          <a:xfrm>
            <a:off x="3794760" y="3063240"/>
            <a:ext cx="6720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Microsoft YaHei"/>
              </a:rPr>
              <a:t>在性能、安全与工程可控性之间找到平衡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ullets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11111"/>
                </a:solidFill>
                <a:latin typeface="Microsoft YaHei"/>
              </a:rPr>
              <a:t>Rust 提供了我们最需要的四项能力</a:t>
            </a:r>
          </a:p>
        </p:txBody>
      </p:sp>
      <p:sp>
        <p:nvSpPr>
          <p:cNvPr id="3" name="Bullets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ullets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ullet Card 1"/>
          <p:cNvSpPr/>
          <p:nvPr/>
        </p:nvSpPr>
        <p:spPr>
          <a:xfrm>
            <a:off x="731520" y="1572768"/>
            <a:ext cx="10728959" cy="10972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Number 1 Circle"/>
          <p:cNvSpPr/>
          <p:nvPr/>
        </p:nvSpPr>
        <p:spPr>
          <a:xfrm>
            <a:off x="960120" y="1929384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llet Number 1 Text"/>
          <p:cNvSpPr txBox="1"/>
          <p:nvPr/>
        </p:nvSpPr>
        <p:spPr>
          <a:xfrm>
            <a:off x="960120" y="19293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Bullet Text 1"/>
          <p:cNvSpPr txBox="1"/>
          <p:nvPr/>
        </p:nvSpPr>
        <p:spPr>
          <a:xfrm>
            <a:off x="1572768" y="1645920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零成本抽象与接近系统级语言的运行性能，不依赖重型运行时</a:t>
            </a:r>
          </a:p>
        </p:txBody>
      </p:sp>
      <p:sp>
        <p:nvSpPr>
          <p:cNvPr id="9" name="Bullet Card 2"/>
          <p:cNvSpPr/>
          <p:nvPr/>
        </p:nvSpPr>
        <p:spPr>
          <a:xfrm>
            <a:off x="731520" y="2779776"/>
            <a:ext cx="10728959" cy="10972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ullet Number 2 Circle"/>
          <p:cNvSpPr/>
          <p:nvPr/>
        </p:nvSpPr>
        <p:spPr>
          <a:xfrm>
            <a:off x="960120" y="3136392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ullet Number 2 Text"/>
          <p:cNvSpPr txBox="1"/>
          <p:nvPr/>
        </p:nvSpPr>
        <p:spPr>
          <a:xfrm>
            <a:off x="960120" y="31363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Bullet Text 2"/>
          <p:cNvSpPr txBox="1"/>
          <p:nvPr/>
        </p:nvSpPr>
        <p:spPr>
          <a:xfrm>
            <a:off x="1572768" y="2852928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所有权与借用检查在编译期消除内存安全问题与数据竞争</a:t>
            </a:r>
          </a:p>
        </p:txBody>
      </p:sp>
      <p:sp>
        <p:nvSpPr>
          <p:cNvPr id="13" name="Bullet Card 3"/>
          <p:cNvSpPr/>
          <p:nvPr/>
        </p:nvSpPr>
        <p:spPr>
          <a:xfrm>
            <a:off x="731520" y="3986784"/>
            <a:ext cx="10728959" cy="10972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ullet Number 3 Circle"/>
          <p:cNvSpPr/>
          <p:nvPr/>
        </p:nvSpPr>
        <p:spPr>
          <a:xfrm>
            <a:off x="960120" y="4343400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ullet Number 3 Text"/>
          <p:cNvSpPr txBox="1"/>
          <p:nvPr/>
        </p:nvSpPr>
        <p:spPr>
          <a:xfrm>
            <a:off x="960120" y="4343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6" name="Bullet Text 3"/>
          <p:cNvSpPr txBox="1"/>
          <p:nvPr/>
        </p:nvSpPr>
        <p:spPr>
          <a:xfrm>
            <a:off x="1572768" y="4059936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没有垃圾回收带来的停顿，延迟表现更可预测</a:t>
            </a:r>
          </a:p>
        </p:txBody>
      </p:sp>
      <p:sp>
        <p:nvSpPr>
          <p:cNvPr id="17" name="Bullet Card 4"/>
          <p:cNvSpPr/>
          <p:nvPr/>
        </p:nvSpPr>
        <p:spPr>
          <a:xfrm>
            <a:off x="731520" y="5193792"/>
            <a:ext cx="10728959" cy="10972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ullet Number 4 Circle"/>
          <p:cNvSpPr/>
          <p:nvPr/>
        </p:nvSpPr>
        <p:spPr>
          <a:xfrm>
            <a:off x="960120" y="5550408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ullet Number 4 Text"/>
          <p:cNvSpPr txBox="1"/>
          <p:nvPr/>
        </p:nvSpPr>
        <p:spPr>
          <a:xfrm>
            <a:off x="960120" y="55504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0" name="Bullet Text 4"/>
          <p:cNvSpPr txBox="1"/>
          <p:nvPr/>
        </p:nvSpPr>
        <p:spPr>
          <a:xfrm>
            <a:off x="1572768" y="5266944"/>
            <a:ext cx="946404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完善的类型系统与工具链，让问题尽早暴露并降低协作成本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mparison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11111"/>
                </a:solidFill>
                <a:latin typeface="Microsoft YaHei"/>
              </a:rPr>
              <a:t>与当前技术栈的关键取舍对比</a:t>
            </a:r>
          </a:p>
        </p:txBody>
      </p:sp>
      <p:sp>
        <p:nvSpPr>
          <p:cNvPr id="3" name="Comparison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parison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er 1"/>
          <p:cNvSpPr/>
          <p:nvPr/>
        </p:nvSpPr>
        <p:spPr>
          <a:xfrm>
            <a:off x="731520" y="150876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parison Header Title 1"/>
          <p:cNvSpPr txBox="1"/>
          <p:nvPr/>
        </p:nvSpPr>
        <p:spPr>
          <a:xfrm>
            <a:off x="841248" y="1581912"/>
            <a:ext cx="13807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Microsoft YaHei"/>
              </a:rPr>
              <a:t>对比维度</a:t>
            </a:r>
          </a:p>
        </p:txBody>
      </p:sp>
      <p:sp>
        <p:nvSpPr>
          <p:cNvPr id="7" name="Comparison Header 2"/>
          <p:cNvSpPr/>
          <p:nvPr/>
        </p:nvSpPr>
        <p:spPr>
          <a:xfrm>
            <a:off x="2459736" y="1508760"/>
            <a:ext cx="4436363" cy="658368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7C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er Title 2"/>
          <p:cNvSpPr txBox="1"/>
          <p:nvPr/>
        </p:nvSpPr>
        <p:spPr>
          <a:xfrm>
            <a:off x="2569464" y="1581912"/>
            <a:ext cx="421690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当前技术栈</a:t>
            </a:r>
          </a:p>
        </p:txBody>
      </p:sp>
      <p:sp>
        <p:nvSpPr>
          <p:cNvPr id="9" name="Comparison Header 3"/>
          <p:cNvSpPr/>
          <p:nvPr/>
        </p:nvSpPr>
        <p:spPr>
          <a:xfrm>
            <a:off x="7024115" y="1508760"/>
            <a:ext cx="4436363" cy="658368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ABA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parison Header Title 3"/>
          <p:cNvSpPr txBox="1"/>
          <p:nvPr/>
        </p:nvSpPr>
        <p:spPr>
          <a:xfrm>
            <a:off x="7133843" y="1581912"/>
            <a:ext cx="421690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Rust</a:t>
            </a:r>
          </a:p>
        </p:txBody>
      </p:sp>
      <p:sp>
        <p:nvSpPr>
          <p:cNvPr id="11" name="Comparison Row 1 Cell 1"/>
          <p:cNvSpPr/>
          <p:nvPr/>
        </p:nvSpPr>
        <p:spPr>
          <a:xfrm>
            <a:off x="731520" y="2359152"/>
            <a:ext cx="1600200" cy="69494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mparison Row 1 Text 1"/>
          <p:cNvSpPr txBox="1"/>
          <p:nvPr/>
        </p:nvSpPr>
        <p:spPr>
          <a:xfrm>
            <a:off x="841248" y="2414016"/>
            <a:ext cx="138074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运行性能</a:t>
            </a:r>
          </a:p>
        </p:txBody>
      </p:sp>
      <p:sp>
        <p:nvSpPr>
          <p:cNvPr id="13" name="Comparison Row 1 Cell 2"/>
          <p:cNvSpPr/>
          <p:nvPr/>
        </p:nvSpPr>
        <p:spPr>
          <a:xfrm>
            <a:off x="2459736" y="2359152"/>
            <a:ext cx="4436363" cy="694944"/>
          </a:xfrm>
          <a:prstGeom prst="rect">
            <a:avLst/>
          </a:prstGeom>
          <a:solidFill>
            <a:srgbClr val="ECECEC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mparison Row 1 Text 2"/>
          <p:cNvSpPr txBox="1"/>
          <p:nvPr/>
        </p:nvSpPr>
        <p:spPr>
          <a:xfrm>
            <a:off x="2569464" y="2414016"/>
            <a:ext cx="421690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受运行时与回收机制影响，峰值表现受限</a:t>
            </a:r>
          </a:p>
        </p:txBody>
      </p:sp>
      <p:sp>
        <p:nvSpPr>
          <p:cNvPr id="15" name="Comparison Row 1 Cell 3"/>
          <p:cNvSpPr/>
          <p:nvPr/>
        </p:nvSpPr>
        <p:spPr>
          <a:xfrm>
            <a:off x="7024115" y="2359152"/>
            <a:ext cx="4436363" cy="694944"/>
          </a:xfrm>
          <a:prstGeom prst="rect">
            <a:avLst/>
          </a:prstGeom>
          <a:solidFill>
            <a:srgbClr val="F0F0F0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mparison Row 1 Text 3"/>
          <p:cNvSpPr txBox="1"/>
          <p:nvPr/>
        </p:nvSpPr>
        <p:spPr>
          <a:xfrm>
            <a:off x="7133843" y="2414016"/>
            <a:ext cx="421690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编译为原生代码，性能上限更高且可预期</a:t>
            </a:r>
          </a:p>
        </p:txBody>
      </p:sp>
      <p:sp>
        <p:nvSpPr>
          <p:cNvPr id="17" name="Comparison Row 2 Cell 1"/>
          <p:cNvSpPr/>
          <p:nvPr/>
        </p:nvSpPr>
        <p:spPr>
          <a:xfrm>
            <a:off x="731520" y="3127248"/>
            <a:ext cx="1600200" cy="69494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mparison Row 2 Text 1"/>
          <p:cNvSpPr txBox="1"/>
          <p:nvPr/>
        </p:nvSpPr>
        <p:spPr>
          <a:xfrm>
            <a:off x="841248" y="3182112"/>
            <a:ext cx="138074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内存安全</a:t>
            </a:r>
          </a:p>
        </p:txBody>
      </p:sp>
      <p:sp>
        <p:nvSpPr>
          <p:cNvPr id="19" name="Comparison Row 2 Cell 2"/>
          <p:cNvSpPr/>
          <p:nvPr/>
        </p:nvSpPr>
        <p:spPr>
          <a:xfrm>
            <a:off x="2459736" y="3127248"/>
            <a:ext cx="4436363" cy="694944"/>
          </a:xfrm>
          <a:prstGeom prst="rect">
            <a:avLst/>
          </a:prstGeom>
          <a:solidFill>
            <a:srgbClr val="ECECEC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mparison Row 2 Text 2"/>
          <p:cNvSpPr txBox="1"/>
          <p:nvPr/>
        </p:nvSpPr>
        <p:spPr>
          <a:xfrm>
            <a:off x="2569464" y="3182112"/>
            <a:ext cx="421690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依赖运行期检查与人工约定</a:t>
            </a:r>
          </a:p>
        </p:txBody>
      </p:sp>
      <p:sp>
        <p:nvSpPr>
          <p:cNvPr id="21" name="Comparison Row 2 Cell 3"/>
          <p:cNvSpPr/>
          <p:nvPr/>
        </p:nvSpPr>
        <p:spPr>
          <a:xfrm>
            <a:off x="7024115" y="3127248"/>
            <a:ext cx="4436363" cy="694944"/>
          </a:xfrm>
          <a:prstGeom prst="rect">
            <a:avLst/>
          </a:prstGeom>
          <a:solidFill>
            <a:srgbClr val="F0F0F0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mparison Row 2 Text 3"/>
          <p:cNvSpPr txBox="1"/>
          <p:nvPr/>
        </p:nvSpPr>
        <p:spPr>
          <a:xfrm>
            <a:off x="7133843" y="3182112"/>
            <a:ext cx="421690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编译期强制检查，从源头规避数据竞争</a:t>
            </a:r>
          </a:p>
        </p:txBody>
      </p:sp>
      <p:sp>
        <p:nvSpPr>
          <p:cNvPr id="23" name="Comparison Row 3 Cell 1"/>
          <p:cNvSpPr/>
          <p:nvPr/>
        </p:nvSpPr>
        <p:spPr>
          <a:xfrm>
            <a:off x="731520" y="3895344"/>
            <a:ext cx="1600200" cy="69494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mparison Row 3 Text 1"/>
          <p:cNvSpPr txBox="1"/>
          <p:nvPr/>
        </p:nvSpPr>
        <p:spPr>
          <a:xfrm>
            <a:off x="841248" y="3950208"/>
            <a:ext cx="138074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延迟稳定性</a:t>
            </a:r>
          </a:p>
        </p:txBody>
      </p:sp>
      <p:sp>
        <p:nvSpPr>
          <p:cNvPr id="25" name="Comparison Row 3 Cell 2"/>
          <p:cNvSpPr/>
          <p:nvPr/>
        </p:nvSpPr>
        <p:spPr>
          <a:xfrm>
            <a:off x="2459736" y="3895344"/>
            <a:ext cx="4436363" cy="694944"/>
          </a:xfrm>
          <a:prstGeom prst="rect">
            <a:avLst/>
          </a:prstGeom>
          <a:solidFill>
            <a:srgbClr val="ECECEC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mparison Row 3 Text 2"/>
          <p:cNvSpPr txBox="1"/>
          <p:nvPr/>
        </p:nvSpPr>
        <p:spPr>
          <a:xfrm>
            <a:off x="2569464" y="3950208"/>
            <a:ext cx="421690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回收或运行时调度带来延迟抖动</a:t>
            </a:r>
          </a:p>
        </p:txBody>
      </p:sp>
      <p:sp>
        <p:nvSpPr>
          <p:cNvPr id="27" name="Comparison Row 3 Cell 3"/>
          <p:cNvSpPr/>
          <p:nvPr/>
        </p:nvSpPr>
        <p:spPr>
          <a:xfrm>
            <a:off x="7024115" y="3895344"/>
            <a:ext cx="4436363" cy="694944"/>
          </a:xfrm>
          <a:prstGeom prst="rect">
            <a:avLst/>
          </a:prstGeom>
          <a:solidFill>
            <a:srgbClr val="F0F0F0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mparison Row 3 Text 3"/>
          <p:cNvSpPr txBox="1"/>
          <p:nvPr/>
        </p:nvSpPr>
        <p:spPr>
          <a:xfrm>
            <a:off x="7133843" y="3950208"/>
            <a:ext cx="421690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无回收停顿，尾延迟表现更可控</a:t>
            </a:r>
          </a:p>
        </p:txBody>
      </p:sp>
      <p:sp>
        <p:nvSpPr>
          <p:cNvPr id="29" name="Comparison Row 4 Cell 1"/>
          <p:cNvSpPr/>
          <p:nvPr/>
        </p:nvSpPr>
        <p:spPr>
          <a:xfrm>
            <a:off x="731520" y="4663440"/>
            <a:ext cx="1600200" cy="69494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mparison Row 4 Text 1"/>
          <p:cNvSpPr txBox="1"/>
          <p:nvPr/>
        </p:nvSpPr>
        <p:spPr>
          <a:xfrm>
            <a:off x="841248" y="4718304"/>
            <a:ext cx="138074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开发效率</a:t>
            </a:r>
          </a:p>
        </p:txBody>
      </p:sp>
      <p:sp>
        <p:nvSpPr>
          <p:cNvPr id="31" name="Comparison Row 4 Cell 2"/>
          <p:cNvSpPr/>
          <p:nvPr/>
        </p:nvSpPr>
        <p:spPr>
          <a:xfrm>
            <a:off x="2459736" y="4663440"/>
            <a:ext cx="4436363" cy="694944"/>
          </a:xfrm>
          <a:prstGeom prst="rect">
            <a:avLst/>
          </a:prstGeom>
          <a:solidFill>
            <a:srgbClr val="ECECEC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mparison Row 4 Text 2"/>
          <p:cNvSpPr txBox="1"/>
          <p:nvPr/>
        </p:nvSpPr>
        <p:spPr>
          <a:xfrm>
            <a:off x="2569464" y="4718304"/>
            <a:ext cx="421690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上手快，但问题多在线上暴露</a:t>
            </a:r>
          </a:p>
        </p:txBody>
      </p:sp>
      <p:sp>
        <p:nvSpPr>
          <p:cNvPr id="33" name="Comparison Row 4 Cell 3"/>
          <p:cNvSpPr/>
          <p:nvPr/>
        </p:nvSpPr>
        <p:spPr>
          <a:xfrm>
            <a:off x="7024115" y="4663440"/>
            <a:ext cx="4436363" cy="694944"/>
          </a:xfrm>
          <a:prstGeom prst="rect">
            <a:avLst/>
          </a:prstGeom>
          <a:solidFill>
            <a:srgbClr val="F0F0F0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mparison Row 4 Text 3"/>
          <p:cNvSpPr txBox="1"/>
          <p:nvPr/>
        </p:nvSpPr>
        <p:spPr>
          <a:xfrm>
            <a:off x="7133843" y="4718304"/>
            <a:ext cx="421690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编译期门槛更高，长期维护成本更低</a:t>
            </a:r>
          </a:p>
        </p:txBody>
      </p:sp>
      <p:sp>
        <p:nvSpPr>
          <p:cNvPr id="35" name="Comparison Row 5 Cell 1"/>
          <p:cNvSpPr/>
          <p:nvPr/>
        </p:nvSpPr>
        <p:spPr>
          <a:xfrm>
            <a:off x="731520" y="5431536"/>
            <a:ext cx="1600200" cy="69494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mparison Row 5 Text 1"/>
          <p:cNvSpPr txBox="1"/>
          <p:nvPr/>
        </p:nvSpPr>
        <p:spPr>
          <a:xfrm>
            <a:off x="841248" y="5486400"/>
            <a:ext cx="138074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生态与人才</a:t>
            </a:r>
          </a:p>
        </p:txBody>
      </p:sp>
      <p:sp>
        <p:nvSpPr>
          <p:cNvPr id="37" name="Comparison Row 5 Cell 2"/>
          <p:cNvSpPr/>
          <p:nvPr/>
        </p:nvSpPr>
        <p:spPr>
          <a:xfrm>
            <a:off x="2459736" y="5431536"/>
            <a:ext cx="4436363" cy="694944"/>
          </a:xfrm>
          <a:prstGeom prst="rect">
            <a:avLst/>
          </a:prstGeom>
          <a:solidFill>
            <a:srgbClr val="ECECEC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mparison Row 5 Text 2"/>
          <p:cNvSpPr txBox="1"/>
          <p:nvPr/>
        </p:nvSpPr>
        <p:spPr>
          <a:xfrm>
            <a:off x="2569464" y="5486400"/>
            <a:ext cx="421690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生态成熟，人才储备充足</a:t>
            </a:r>
          </a:p>
        </p:txBody>
      </p:sp>
      <p:sp>
        <p:nvSpPr>
          <p:cNvPr id="39" name="Comparison Row 5 Cell 3"/>
          <p:cNvSpPr/>
          <p:nvPr/>
        </p:nvSpPr>
        <p:spPr>
          <a:xfrm>
            <a:off x="7024115" y="5431536"/>
            <a:ext cx="4436363" cy="694944"/>
          </a:xfrm>
          <a:prstGeom prst="rect">
            <a:avLst/>
          </a:prstGeom>
          <a:solidFill>
            <a:srgbClr val="F0F0F0"/>
          </a:solidFill>
          <a:ln w="9525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mparison Row 5 Text 3"/>
          <p:cNvSpPr txBox="1"/>
          <p:nvPr/>
        </p:nvSpPr>
        <p:spPr>
          <a:xfrm>
            <a:off x="7133843" y="5486400"/>
            <a:ext cx="421690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生态快速增长，团队需投入学习成本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cess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11111"/>
                </a:solidFill>
                <a:latin typeface="Microsoft YaHei"/>
              </a:rPr>
              <a:t>重写按四步推进，控制风险</a:t>
            </a:r>
          </a:p>
        </p:txBody>
      </p:sp>
      <p:sp>
        <p:nvSpPr>
          <p:cNvPr id="3" name="Process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cess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cess Arrow 1"/>
          <p:cNvSpPr/>
          <p:nvPr/>
        </p:nvSpPr>
        <p:spPr>
          <a:xfrm>
            <a:off x="3272027" y="3401568"/>
            <a:ext cx="155448" cy="329184"/>
          </a:xfrm>
          <a:prstGeom prst="chevron">
            <a:avLst/>
          </a:prstGeom>
          <a:solidFill>
            <a:srgbClr val="82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cess Arrow 2"/>
          <p:cNvSpPr/>
          <p:nvPr/>
        </p:nvSpPr>
        <p:spPr>
          <a:xfrm>
            <a:off x="6018274" y="3401568"/>
            <a:ext cx="155448" cy="329184"/>
          </a:xfrm>
          <a:prstGeom prst="chevron">
            <a:avLst/>
          </a:prstGeom>
          <a:solidFill>
            <a:srgbClr val="82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cess Arrow 3"/>
          <p:cNvSpPr/>
          <p:nvPr/>
        </p:nvSpPr>
        <p:spPr>
          <a:xfrm>
            <a:off x="8764521" y="3401568"/>
            <a:ext cx="155448" cy="329184"/>
          </a:xfrm>
          <a:prstGeom prst="chevron">
            <a:avLst/>
          </a:prstGeom>
          <a:solidFill>
            <a:srgbClr val="82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cess Card 1"/>
          <p:cNvSpPr/>
          <p:nvPr/>
        </p:nvSpPr>
        <p:spPr>
          <a:xfrm>
            <a:off x="731520" y="1737360"/>
            <a:ext cx="2490215" cy="425196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cess Number 1 Circle"/>
          <p:cNvSpPr/>
          <p:nvPr/>
        </p:nvSpPr>
        <p:spPr>
          <a:xfrm>
            <a:off x="1720595" y="2011680"/>
            <a:ext cx="512064" cy="51206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cess Number 1 Text"/>
          <p:cNvSpPr txBox="1"/>
          <p:nvPr/>
        </p:nvSpPr>
        <p:spPr>
          <a:xfrm>
            <a:off x="1720595" y="201168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Process Step Title 1"/>
          <p:cNvSpPr txBox="1"/>
          <p:nvPr/>
        </p:nvSpPr>
        <p:spPr>
          <a:xfrm>
            <a:off x="859536" y="2816352"/>
            <a:ext cx="223418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明确边界</a:t>
            </a:r>
          </a:p>
        </p:txBody>
      </p:sp>
      <p:sp>
        <p:nvSpPr>
          <p:cNvPr id="12" name="Process Description 1"/>
          <p:cNvSpPr txBox="1"/>
          <p:nvPr/>
        </p:nvSpPr>
        <p:spPr>
          <a:xfrm>
            <a:off x="877824" y="3657600"/>
            <a:ext cx="219760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选定边界清晰、收益可衡量的模块作为起点，避免一次性重写全部服务</a:t>
            </a:r>
          </a:p>
        </p:txBody>
      </p:sp>
      <p:sp>
        <p:nvSpPr>
          <p:cNvPr id="13" name="Process Card 2"/>
          <p:cNvSpPr/>
          <p:nvPr/>
        </p:nvSpPr>
        <p:spPr>
          <a:xfrm>
            <a:off x="3477767" y="1737360"/>
            <a:ext cx="2490215" cy="425196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cess Number 2 Circle"/>
          <p:cNvSpPr/>
          <p:nvPr/>
        </p:nvSpPr>
        <p:spPr>
          <a:xfrm>
            <a:off x="4466842" y="2011680"/>
            <a:ext cx="512064" cy="512064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ocess Number 2 Text"/>
          <p:cNvSpPr txBox="1"/>
          <p:nvPr/>
        </p:nvSpPr>
        <p:spPr>
          <a:xfrm>
            <a:off x="4466842" y="201168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Process Step Title 2"/>
          <p:cNvSpPr txBox="1"/>
          <p:nvPr/>
        </p:nvSpPr>
        <p:spPr>
          <a:xfrm>
            <a:off x="3605783" y="2816352"/>
            <a:ext cx="223418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能力验证</a:t>
            </a:r>
          </a:p>
        </p:txBody>
      </p:sp>
      <p:sp>
        <p:nvSpPr>
          <p:cNvPr id="17" name="Process Description 2"/>
          <p:cNvSpPr txBox="1"/>
          <p:nvPr/>
        </p:nvSpPr>
        <p:spPr>
          <a:xfrm>
            <a:off x="3624071" y="3657600"/>
            <a:ext cx="219760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在真实流量场景下验证性能、延迟与稳定性，确认技术假设成立</a:t>
            </a:r>
          </a:p>
        </p:txBody>
      </p:sp>
      <p:sp>
        <p:nvSpPr>
          <p:cNvPr id="18" name="Process Card 3"/>
          <p:cNvSpPr/>
          <p:nvPr/>
        </p:nvSpPr>
        <p:spPr>
          <a:xfrm>
            <a:off x="6224014" y="1737360"/>
            <a:ext cx="2490215" cy="425196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cess Number 3 Circle"/>
          <p:cNvSpPr/>
          <p:nvPr/>
        </p:nvSpPr>
        <p:spPr>
          <a:xfrm>
            <a:off x="7213089" y="2011680"/>
            <a:ext cx="512064" cy="51206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ocess Number 3 Text"/>
          <p:cNvSpPr txBox="1"/>
          <p:nvPr/>
        </p:nvSpPr>
        <p:spPr>
          <a:xfrm>
            <a:off x="7213089" y="201168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Process Step Title 3"/>
          <p:cNvSpPr txBox="1"/>
          <p:nvPr/>
        </p:nvSpPr>
        <p:spPr>
          <a:xfrm>
            <a:off x="6352030" y="2816352"/>
            <a:ext cx="223418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渐进替换</a:t>
            </a:r>
          </a:p>
        </p:txBody>
      </p:sp>
      <p:sp>
        <p:nvSpPr>
          <p:cNvPr id="22" name="Process Description 3"/>
          <p:cNvSpPr txBox="1"/>
          <p:nvPr/>
        </p:nvSpPr>
        <p:spPr>
          <a:xfrm>
            <a:off x="6370318" y="3657600"/>
            <a:ext cx="219760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新旧实现并行运行，通过灰度切流逐步迁移，保证随时可回滚</a:t>
            </a:r>
          </a:p>
        </p:txBody>
      </p:sp>
      <p:sp>
        <p:nvSpPr>
          <p:cNvPr id="23" name="Process Card 4"/>
          <p:cNvSpPr/>
          <p:nvPr/>
        </p:nvSpPr>
        <p:spPr>
          <a:xfrm>
            <a:off x="8970261" y="1737360"/>
            <a:ext cx="2490215" cy="425196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ocess Number 4 Circle"/>
          <p:cNvSpPr/>
          <p:nvPr/>
        </p:nvSpPr>
        <p:spPr>
          <a:xfrm>
            <a:off x="9959336" y="2011680"/>
            <a:ext cx="512064" cy="512064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cess Number 4 Text"/>
          <p:cNvSpPr txBox="1"/>
          <p:nvPr/>
        </p:nvSpPr>
        <p:spPr>
          <a:xfrm>
            <a:off x="9959336" y="201168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Process Step Title 4"/>
          <p:cNvSpPr txBox="1"/>
          <p:nvPr/>
        </p:nvSpPr>
        <p:spPr>
          <a:xfrm>
            <a:off x="9098277" y="2816352"/>
            <a:ext cx="223418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沉淀规范</a:t>
            </a:r>
          </a:p>
        </p:txBody>
      </p:sp>
      <p:sp>
        <p:nvSpPr>
          <p:cNvPr id="27" name="Process Description 4"/>
          <p:cNvSpPr txBox="1"/>
          <p:nvPr/>
        </p:nvSpPr>
        <p:spPr>
          <a:xfrm>
            <a:off x="9116565" y="3657600"/>
            <a:ext cx="219760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把验证过的实践固化为编码规范与工具链，供后续模块直接复用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meline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11111"/>
                </a:solidFill>
                <a:latin typeface="Microsoft YaHei"/>
              </a:rPr>
              <a:t>分阶段推进，每阶段都有明确的验收标准</a:t>
            </a:r>
          </a:p>
        </p:txBody>
      </p:sp>
      <p:sp>
        <p:nvSpPr>
          <p:cNvPr id="3" name="Timeline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meline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Timeline Connector"/>
          <p:cNvCxnSpPr/>
          <p:nvPr/>
        </p:nvCxnSpPr>
        <p:spPr>
          <a:xfrm>
            <a:off x="1804415" y="2743200"/>
            <a:ext cx="8583164" cy="0"/>
          </a:xfrm>
          <a:prstGeom prst="line">
            <a:avLst/>
          </a:prstGeom>
          <a:ln w="381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meline Label 1"/>
          <p:cNvSpPr txBox="1"/>
          <p:nvPr/>
        </p:nvSpPr>
        <p:spPr>
          <a:xfrm>
            <a:off x="804672" y="1737360"/>
            <a:ext cx="19994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Microsoft YaHei"/>
              </a:rPr>
              <a:t>第一阶段</a:t>
            </a:r>
          </a:p>
        </p:txBody>
      </p:sp>
      <p:sp>
        <p:nvSpPr>
          <p:cNvPr id="7" name="Timeline Node 1 Circle"/>
          <p:cNvSpPr/>
          <p:nvPr/>
        </p:nvSpPr>
        <p:spPr>
          <a:xfrm>
            <a:off x="1584959" y="2523744"/>
            <a:ext cx="438912" cy="43891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Node 1 Text"/>
          <p:cNvSpPr txBox="1"/>
          <p:nvPr/>
        </p:nvSpPr>
        <p:spPr>
          <a:xfrm>
            <a:off x="1584959" y="252374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imeline Item Title 1"/>
          <p:cNvSpPr txBox="1"/>
          <p:nvPr/>
        </p:nvSpPr>
        <p:spPr>
          <a:xfrm>
            <a:off x="804672" y="3218688"/>
            <a:ext cx="1999487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评估与选型</a:t>
            </a:r>
          </a:p>
        </p:txBody>
      </p:sp>
      <p:sp>
        <p:nvSpPr>
          <p:cNvPr id="10" name="Timeline Description 1"/>
          <p:cNvSpPr txBox="1"/>
          <p:nvPr/>
        </p:nvSpPr>
        <p:spPr>
          <a:xfrm>
            <a:off x="822960" y="3913632"/>
            <a:ext cx="1962911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梳理核心链路，确定重写范围与验收指标</a:t>
            </a:r>
          </a:p>
        </p:txBody>
      </p:sp>
      <p:sp>
        <p:nvSpPr>
          <p:cNvPr id="11" name="Timeline Label 2"/>
          <p:cNvSpPr txBox="1"/>
          <p:nvPr/>
        </p:nvSpPr>
        <p:spPr>
          <a:xfrm>
            <a:off x="2950463" y="1737360"/>
            <a:ext cx="19994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66666"/>
                </a:solidFill>
                <a:latin typeface="Microsoft YaHei"/>
              </a:rPr>
              <a:t>第二阶段</a:t>
            </a:r>
          </a:p>
        </p:txBody>
      </p:sp>
      <p:sp>
        <p:nvSpPr>
          <p:cNvPr id="12" name="Timeline Node 2 Circle"/>
          <p:cNvSpPr/>
          <p:nvPr/>
        </p:nvSpPr>
        <p:spPr>
          <a:xfrm>
            <a:off x="3730750" y="2523744"/>
            <a:ext cx="438912" cy="43891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meline Node 2 Text"/>
          <p:cNvSpPr txBox="1"/>
          <p:nvPr/>
        </p:nvSpPr>
        <p:spPr>
          <a:xfrm>
            <a:off x="3730750" y="252374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imeline Item Title 2"/>
          <p:cNvSpPr txBox="1"/>
          <p:nvPr/>
        </p:nvSpPr>
        <p:spPr>
          <a:xfrm>
            <a:off x="2950463" y="3218688"/>
            <a:ext cx="1999487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试点模块</a:t>
            </a:r>
          </a:p>
        </p:txBody>
      </p:sp>
      <p:sp>
        <p:nvSpPr>
          <p:cNvPr id="15" name="Timeline Description 2"/>
          <p:cNvSpPr txBox="1"/>
          <p:nvPr/>
        </p:nvSpPr>
        <p:spPr>
          <a:xfrm>
            <a:off x="2968751" y="3913632"/>
            <a:ext cx="1962911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完成单个模块的重写，并接入灰度环境验证</a:t>
            </a:r>
          </a:p>
        </p:txBody>
      </p:sp>
      <p:sp>
        <p:nvSpPr>
          <p:cNvPr id="16" name="Timeline Label 3"/>
          <p:cNvSpPr txBox="1"/>
          <p:nvPr/>
        </p:nvSpPr>
        <p:spPr>
          <a:xfrm>
            <a:off x="5096254" y="1737360"/>
            <a:ext cx="19994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Microsoft YaHei"/>
              </a:rPr>
              <a:t>第三阶段</a:t>
            </a:r>
          </a:p>
        </p:txBody>
      </p:sp>
      <p:sp>
        <p:nvSpPr>
          <p:cNvPr id="17" name="Timeline Node 3 Circle"/>
          <p:cNvSpPr/>
          <p:nvPr/>
        </p:nvSpPr>
        <p:spPr>
          <a:xfrm>
            <a:off x="5876541" y="2523744"/>
            <a:ext cx="438912" cy="43891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meline Node 3 Text"/>
          <p:cNvSpPr txBox="1"/>
          <p:nvPr/>
        </p:nvSpPr>
        <p:spPr>
          <a:xfrm>
            <a:off x="5876541" y="252374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imeline Item Title 3"/>
          <p:cNvSpPr txBox="1"/>
          <p:nvPr/>
        </p:nvSpPr>
        <p:spPr>
          <a:xfrm>
            <a:off x="5096254" y="3218688"/>
            <a:ext cx="1999487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灰度迁移</a:t>
            </a:r>
          </a:p>
        </p:txBody>
      </p:sp>
      <p:sp>
        <p:nvSpPr>
          <p:cNvPr id="20" name="Timeline Description 3"/>
          <p:cNvSpPr txBox="1"/>
          <p:nvPr/>
        </p:nvSpPr>
        <p:spPr>
          <a:xfrm>
            <a:off x="5114542" y="3913632"/>
            <a:ext cx="1962911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逐步放大流量比例，持续对比新旧实现的各项指标</a:t>
            </a:r>
          </a:p>
        </p:txBody>
      </p:sp>
      <p:sp>
        <p:nvSpPr>
          <p:cNvPr id="21" name="Timeline Label 4"/>
          <p:cNvSpPr txBox="1"/>
          <p:nvPr/>
        </p:nvSpPr>
        <p:spPr>
          <a:xfrm>
            <a:off x="7242045" y="1737360"/>
            <a:ext cx="19994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66666"/>
                </a:solidFill>
                <a:latin typeface="Microsoft YaHei"/>
              </a:rPr>
              <a:t>第四阶段</a:t>
            </a:r>
          </a:p>
        </p:txBody>
      </p:sp>
      <p:sp>
        <p:nvSpPr>
          <p:cNvPr id="22" name="Timeline Node 4 Circle"/>
          <p:cNvSpPr/>
          <p:nvPr/>
        </p:nvSpPr>
        <p:spPr>
          <a:xfrm>
            <a:off x="8022332" y="2523744"/>
            <a:ext cx="438912" cy="43891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meline Node 4 Text"/>
          <p:cNvSpPr txBox="1"/>
          <p:nvPr/>
        </p:nvSpPr>
        <p:spPr>
          <a:xfrm>
            <a:off x="8022332" y="252374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imeline Item Title 4"/>
          <p:cNvSpPr txBox="1"/>
          <p:nvPr/>
        </p:nvSpPr>
        <p:spPr>
          <a:xfrm>
            <a:off x="7242045" y="3218688"/>
            <a:ext cx="1999487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全面切换</a:t>
            </a:r>
          </a:p>
        </p:txBody>
      </p:sp>
      <p:sp>
        <p:nvSpPr>
          <p:cNvPr id="25" name="Timeline Description 4"/>
          <p:cNvSpPr txBox="1"/>
          <p:nvPr/>
        </p:nvSpPr>
        <p:spPr>
          <a:xfrm>
            <a:off x="7260333" y="3913632"/>
            <a:ext cx="1962911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核心链路完成替换，旧实现进入维护或下线</a:t>
            </a:r>
          </a:p>
        </p:txBody>
      </p:sp>
      <p:sp>
        <p:nvSpPr>
          <p:cNvPr id="26" name="Timeline Label 5"/>
          <p:cNvSpPr txBox="1"/>
          <p:nvPr/>
        </p:nvSpPr>
        <p:spPr>
          <a:xfrm>
            <a:off x="9387836" y="1737360"/>
            <a:ext cx="19994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Microsoft YaHei"/>
              </a:rPr>
              <a:t>第五阶段</a:t>
            </a:r>
          </a:p>
        </p:txBody>
      </p:sp>
      <p:sp>
        <p:nvSpPr>
          <p:cNvPr id="27" name="Timeline Node 5 Circle"/>
          <p:cNvSpPr/>
          <p:nvPr/>
        </p:nvSpPr>
        <p:spPr>
          <a:xfrm>
            <a:off x="10168123" y="2523744"/>
            <a:ext cx="438912" cy="43891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meline Node 5 Text"/>
          <p:cNvSpPr txBox="1"/>
          <p:nvPr/>
        </p:nvSpPr>
        <p:spPr>
          <a:xfrm>
            <a:off x="10168123" y="252374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9" name="Timeline Item Title 5"/>
          <p:cNvSpPr txBox="1"/>
          <p:nvPr/>
        </p:nvSpPr>
        <p:spPr>
          <a:xfrm>
            <a:off x="9387836" y="3218688"/>
            <a:ext cx="1999487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持续优化</a:t>
            </a:r>
          </a:p>
        </p:txBody>
      </p:sp>
      <p:sp>
        <p:nvSpPr>
          <p:cNvPr id="30" name="Timeline Description 5"/>
          <p:cNvSpPr txBox="1"/>
          <p:nvPr/>
        </p:nvSpPr>
        <p:spPr>
          <a:xfrm>
            <a:off x="9406124" y="3913632"/>
            <a:ext cx="1962911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基于线上数据迭代，并把经验推广到其他服务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ullets Title"/>
          <p:cNvSpPr txBox="1"/>
          <p:nvPr/>
        </p:nvSpPr>
        <p:spPr>
          <a:xfrm>
            <a:off x="731520" y="5029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11111"/>
                </a:solidFill>
                <a:latin typeface="Microsoft YaHei"/>
              </a:rPr>
              <a:t>主要风险已有对应的应对方式</a:t>
            </a:r>
          </a:p>
        </p:txBody>
      </p:sp>
      <p:sp>
        <p:nvSpPr>
          <p:cNvPr id="3" name="Bullets Title Accent"/>
          <p:cNvSpPr/>
          <p:nvPr/>
        </p:nvSpPr>
        <p:spPr>
          <a:xfrm>
            <a:off x="731520" y="1216152"/>
            <a:ext cx="86868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ullets Corner Accent"/>
          <p:cNvSpPr/>
          <p:nvPr/>
        </p:nvSpPr>
        <p:spPr>
          <a:xfrm>
            <a:off x="10863072" y="502920"/>
            <a:ext cx="594360" cy="14630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ullet Card 1"/>
          <p:cNvSpPr/>
          <p:nvPr/>
        </p:nvSpPr>
        <p:spPr>
          <a:xfrm>
            <a:off x="731520" y="1572768"/>
            <a:ext cx="10728959" cy="8686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Number 1 Circle"/>
          <p:cNvSpPr/>
          <p:nvPr/>
        </p:nvSpPr>
        <p:spPr>
          <a:xfrm>
            <a:off x="960120" y="1815084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llet Number 1 Text"/>
          <p:cNvSpPr txBox="1"/>
          <p:nvPr/>
        </p:nvSpPr>
        <p:spPr>
          <a:xfrm>
            <a:off x="960120" y="18150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Bullet Text 1"/>
          <p:cNvSpPr txBox="1"/>
          <p:nvPr/>
        </p:nvSpPr>
        <p:spPr>
          <a:xfrm>
            <a:off x="1572768" y="1645920"/>
            <a:ext cx="94640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学习曲线陡峭：先做小范围试点，形成内部示例与规范，再扩大参与范围</a:t>
            </a:r>
          </a:p>
        </p:txBody>
      </p:sp>
      <p:sp>
        <p:nvSpPr>
          <p:cNvPr id="9" name="Bullet Card 2"/>
          <p:cNvSpPr/>
          <p:nvPr/>
        </p:nvSpPr>
        <p:spPr>
          <a:xfrm>
            <a:off x="731520" y="2551176"/>
            <a:ext cx="10728959" cy="8686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ullet Number 2 Circle"/>
          <p:cNvSpPr/>
          <p:nvPr/>
        </p:nvSpPr>
        <p:spPr>
          <a:xfrm>
            <a:off x="960120" y="2793492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ullet Number 2 Text"/>
          <p:cNvSpPr txBox="1"/>
          <p:nvPr/>
        </p:nvSpPr>
        <p:spPr>
          <a:xfrm>
            <a:off x="960120" y="27934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Bullet Text 2"/>
          <p:cNvSpPr txBox="1"/>
          <p:nvPr/>
        </p:nvSpPr>
        <p:spPr>
          <a:xfrm>
            <a:off x="1572768" y="2624328"/>
            <a:ext cx="94640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关键依赖不完整：提前评估依赖成熟度，必要时在团队内维护可控替代方案</a:t>
            </a:r>
          </a:p>
        </p:txBody>
      </p:sp>
      <p:sp>
        <p:nvSpPr>
          <p:cNvPr id="13" name="Bullet Card 3"/>
          <p:cNvSpPr/>
          <p:nvPr/>
        </p:nvSpPr>
        <p:spPr>
          <a:xfrm>
            <a:off x="731520" y="3529584"/>
            <a:ext cx="10728959" cy="8686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ullet Number 3 Circle"/>
          <p:cNvSpPr/>
          <p:nvPr/>
        </p:nvSpPr>
        <p:spPr>
          <a:xfrm>
            <a:off x="960120" y="3771900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ullet Number 3 Text"/>
          <p:cNvSpPr txBox="1"/>
          <p:nvPr/>
        </p:nvSpPr>
        <p:spPr>
          <a:xfrm>
            <a:off x="960120" y="37719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6" name="Bullet Text 3"/>
          <p:cNvSpPr txBox="1"/>
          <p:nvPr/>
        </p:nvSpPr>
        <p:spPr>
          <a:xfrm>
            <a:off x="1572768" y="3602736"/>
            <a:ext cx="94640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与现有系统集成复杂：以清晰的接口边界和渐进式切流降低耦合</a:t>
            </a:r>
          </a:p>
        </p:txBody>
      </p:sp>
      <p:sp>
        <p:nvSpPr>
          <p:cNvPr id="17" name="Bullet Card 4"/>
          <p:cNvSpPr/>
          <p:nvPr/>
        </p:nvSpPr>
        <p:spPr>
          <a:xfrm>
            <a:off x="731520" y="4507992"/>
            <a:ext cx="10728959" cy="8686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ullet Number 4 Circle"/>
          <p:cNvSpPr/>
          <p:nvPr/>
        </p:nvSpPr>
        <p:spPr>
          <a:xfrm>
            <a:off x="960120" y="4750308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ullet Number 4 Text"/>
          <p:cNvSpPr txBox="1"/>
          <p:nvPr/>
        </p:nvSpPr>
        <p:spPr>
          <a:xfrm>
            <a:off x="960120" y="47503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0" name="Bullet Text 4"/>
          <p:cNvSpPr txBox="1"/>
          <p:nvPr/>
        </p:nvSpPr>
        <p:spPr>
          <a:xfrm>
            <a:off x="1572768" y="4581144"/>
            <a:ext cx="94640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迁移期需要双份维护：控制单次迁移范围，尽量缩短新旧并行时间</a:t>
            </a:r>
          </a:p>
        </p:txBody>
      </p:sp>
      <p:sp>
        <p:nvSpPr>
          <p:cNvPr id="21" name="Bullet Card 5"/>
          <p:cNvSpPr/>
          <p:nvPr/>
        </p:nvSpPr>
        <p:spPr>
          <a:xfrm>
            <a:off x="731520" y="5486400"/>
            <a:ext cx="10728959" cy="86868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ullet Number 5 Circle"/>
          <p:cNvSpPr/>
          <p:nvPr/>
        </p:nvSpPr>
        <p:spPr>
          <a:xfrm>
            <a:off x="960120" y="5728716"/>
            <a:ext cx="384048" cy="3840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ullet Number 5 Text"/>
          <p:cNvSpPr txBox="1"/>
          <p:nvPr/>
        </p:nvSpPr>
        <p:spPr>
          <a:xfrm>
            <a:off x="960120" y="572871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4" name="Bullet Text 5"/>
          <p:cNvSpPr txBox="1"/>
          <p:nvPr/>
        </p:nvSpPr>
        <p:spPr>
          <a:xfrm>
            <a:off x="1572768" y="5559552"/>
            <a:ext cx="946404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人才与招聘压力：以内部培养为主，把经验沉淀为可复用的文档与工具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sing Top Accent"/>
          <p:cNvSpPr/>
          <p:nvPr/>
        </p:nvSpPr>
        <p:spPr>
          <a:xfrm>
            <a:off x="731520" y="502920"/>
            <a:ext cx="1691640" cy="11887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sing Bottom Accent"/>
          <p:cNvSpPr/>
          <p:nvPr/>
        </p:nvSpPr>
        <p:spPr>
          <a:xfrm>
            <a:off x="9235440" y="6144768"/>
            <a:ext cx="222199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sing Decorative Circle Large"/>
          <p:cNvSpPr/>
          <p:nvPr/>
        </p:nvSpPr>
        <p:spPr>
          <a:xfrm>
            <a:off x="914400" y="4526280"/>
            <a:ext cx="1115568" cy="1115568"/>
          </a:xfrm>
          <a:prstGeom prst="ellipse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sing Decorative Circle Small"/>
          <p:cNvSpPr/>
          <p:nvPr/>
        </p:nvSpPr>
        <p:spPr>
          <a:xfrm>
            <a:off x="1920240" y="5440680"/>
            <a:ext cx="502920" cy="5029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sing Title"/>
          <p:cNvSpPr txBox="1"/>
          <p:nvPr/>
        </p:nvSpPr>
        <p:spPr>
          <a:xfrm>
            <a:off x="1097280" y="1554480"/>
            <a:ext cx="9966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Microsoft YaHei"/>
              </a:rPr>
              <a:t>用一次结构性投入，换长期的性能与稳定</a:t>
            </a:r>
          </a:p>
        </p:txBody>
      </p:sp>
      <p:sp>
        <p:nvSpPr>
          <p:cNvPr id="7" name="Closing Center Accent"/>
          <p:cNvSpPr/>
          <p:nvPr/>
        </p:nvSpPr>
        <p:spPr>
          <a:xfrm>
            <a:off x="5074920" y="3182112"/>
            <a:ext cx="2039112" cy="7315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sing Subtitle"/>
          <p:cNvSpPr txBox="1"/>
          <p:nvPr/>
        </p:nvSpPr>
        <p:spPr>
          <a:xfrm>
            <a:off x="1234440" y="3566160"/>
            <a:ext cx="9738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Microsoft YaHei"/>
              </a:rPr>
              <a:t>欢迎就选型理由、迁移节奏与试点范围提出讨论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为什么我们要用 Rust 重写核心服务</dc:title>
  <dc:subject>技术分享：讲清重写核心服务的动机、技术选型理由与迁移路径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