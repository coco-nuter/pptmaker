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Primary Block"/>
          <p:cNvSpPr/>
          <p:nvPr/>
        </p:nvSpPr>
        <p:spPr>
          <a:xfrm>
            <a:off x="731520" y="502920"/>
            <a:ext cx="502920" cy="5852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Bottom Accent"/>
          <p:cNvSpPr/>
          <p:nvPr/>
        </p:nvSpPr>
        <p:spPr>
          <a:xfrm>
            <a:off x="1600200" y="5230368"/>
            <a:ext cx="3383280" cy="8229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 Decorative Block"/>
          <p:cNvSpPr/>
          <p:nvPr/>
        </p:nvSpPr>
        <p:spPr>
          <a:xfrm>
            <a:off x="9189720" y="4526280"/>
            <a:ext cx="2267712" cy="1417320"/>
          </a:xfrm>
          <a:prstGeom prst="rect">
            <a:avLst/>
          </a:prstGeom>
          <a:solidFill>
            <a:srgbClr val="C4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 Decorative Circle Large"/>
          <p:cNvSpPr/>
          <p:nvPr/>
        </p:nvSpPr>
        <p:spPr>
          <a:xfrm>
            <a:off x="9372600" y="1051560"/>
            <a:ext cx="1207008" cy="1207008"/>
          </a:xfrm>
          <a:prstGeom prst="ellipse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 Decorative Circle Small"/>
          <p:cNvSpPr/>
          <p:nvPr/>
        </p:nvSpPr>
        <p:spPr>
          <a:xfrm>
            <a:off x="10533888" y="205740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ver Title"/>
          <p:cNvSpPr txBox="1"/>
          <p:nvPr/>
        </p:nvSpPr>
        <p:spPr>
          <a:xfrm>
            <a:off x="1600200" y="1417320"/>
            <a:ext cx="7452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F4E79"/>
                </a:solidFill>
                <a:latin typeface="微软雅黑"/>
              </a:rPr>
              <a:t>Q3 业务复盘</a:t>
            </a:r>
          </a:p>
        </p:txBody>
      </p:sp>
      <p:sp>
        <p:nvSpPr>
          <p:cNvPr id="8" name="Cover Subtitle"/>
          <p:cNvSpPr txBox="1"/>
          <p:nvPr/>
        </p:nvSpPr>
        <p:spPr>
          <a:xfrm>
            <a:off x="1627632" y="3154680"/>
            <a:ext cx="7178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微软雅黑"/>
              </a:rPr>
              <a:t>规模在增长，质量要跟上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ric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F4E79"/>
                </a:solidFill>
                <a:latin typeface="微软雅黑"/>
              </a:rPr>
              <a:t>Q3 的四个核心数字：规模在涨，效率在退</a:t>
            </a:r>
          </a:p>
        </p:txBody>
      </p:sp>
      <p:sp>
        <p:nvSpPr>
          <p:cNvPr id="3" name="Metric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etric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ric Card 1"/>
          <p:cNvSpPr/>
          <p:nvPr/>
        </p:nvSpPr>
        <p:spPr>
          <a:xfrm>
            <a:off x="731520" y="1664208"/>
            <a:ext cx="2531363" cy="4315968"/>
          </a:xfrm>
          <a:prstGeom prst="roundRect">
            <a:avLst/>
          </a:prstGeom>
          <a:solidFill>
            <a:srgbClr val="EBEFF3"/>
          </a:solidFill>
          <a:ln w="12700">
            <a:solidFill>
              <a:srgbClr val="9C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ric Accent 1"/>
          <p:cNvSpPr/>
          <p:nvPr/>
        </p:nvSpPr>
        <p:spPr>
          <a:xfrm>
            <a:off x="731520" y="1664208"/>
            <a:ext cx="2531363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 Value 1"/>
          <p:cNvSpPr txBox="1"/>
          <p:nvPr/>
        </p:nvSpPr>
        <p:spPr>
          <a:xfrm>
            <a:off x="932688" y="2057400"/>
            <a:ext cx="21290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F4E79"/>
                </a:solidFill>
                <a:latin typeface="微软雅黑"/>
              </a:rPr>
              <a:t>120 万 → 185 万</a:t>
            </a:r>
          </a:p>
        </p:txBody>
      </p:sp>
      <p:sp>
        <p:nvSpPr>
          <p:cNvPr id="8" name="Metric Label 1"/>
          <p:cNvSpPr txBox="1"/>
          <p:nvPr/>
        </p:nvSpPr>
        <p:spPr>
          <a:xfrm>
            <a:off x="932688" y="3108960"/>
            <a:ext cx="21290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MAU</a:t>
            </a:r>
          </a:p>
        </p:txBody>
      </p:sp>
      <p:sp>
        <p:nvSpPr>
          <p:cNvPr id="9" name="Metric Description 1"/>
          <p:cNvSpPr txBox="1"/>
          <p:nvPr/>
        </p:nvSpPr>
        <p:spPr>
          <a:xfrm>
            <a:off x="987552" y="3913632"/>
            <a:ext cx="201929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月活跃用户规模在本季度明显扩大，增长是本期最确定的成果。</a:t>
            </a:r>
          </a:p>
        </p:txBody>
      </p:sp>
      <p:sp>
        <p:nvSpPr>
          <p:cNvPr id="10" name="Metric Card 2"/>
          <p:cNvSpPr/>
          <p:nvPr/>
        </p:nvSpPr>
        <p:spPr>
          <a:xfrm>
            <a:off x="3464051" y="1664208"/>
            <a:ext cx="2531363" cy="4315968"/>
          </a:xfrm>
          <a:prstGeom prst="roundRect">
            <a:avLst/>
          </a:prstGeom>
          <a:solidFill>
            <a:srgbClr val="ECF4F7"/>
          </a:solidFill>
          <a:ln w="12700">
            <a:solidFill>
              <a:srgbClr val="A3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 Accent 2"/>
          <p:cNvSpPr/>
          <p:nvPr/>
        </p:nvSpPr>
        <p:spPr>
          <a:xfrm>
            <a:off x="3464051" y="1664208"/>
            <a:ext cx="2531363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 Value 2"/>
          <p:cNvSpPr txBox="1"/>
          <p:nvPr/>
        </p:nvSpPr>
        <p:spPr>
          <a:xfrm>
            <a:off x="3665219" y="2057400"/>
            <a:ext cx="21290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86AB"/>
                </a:solidFill>
                <a:latin typeface="微软雅黑"/>
              </a:rPr>
              <a:t>3.2% → 2.8%</a:t>
            </a:r>
          </a:p>
        </p:txBody>
      </p:sp>
      <p:sp>
        <p:nvSpPr>
          <p:cNvPr id="13" name="Metric Label 2"/>
          <p:cNvSpPr txBox="1"/>
          <p:nvPr/>
        </p:nvSpPr>
        <p:spPr>
          <a:xfrm>
            <a:off x="3665219" y="3108960"/>
            <a:ext cx="21290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付费率</a:t>
            </a:r>
          </a:p>
        </p:txBody>
      </p:sp>
      <p:sp>
        <p:nvSpPr>
          <p:cNvPr id="14" name="Metric Description 2"/>
          <p:cNvSpPr txBox="1"/>
          <p:nvPr/>
        </p:nvSpPr>
        <p:spPr>
          <a:xfrm>
            <a:off x="3720083" y="3913632"/>
            <a:ext cx="201929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付费转化率下降，新增用户的付费意愿没有跟上规模扩张的速度。</a:t>
            </a:r>
          </a:p>
        </p:txBody>
      </p:sp>
      <p:sp>
        <p:nvSpPr>
          <p:cNvPr id="15" name="Metric Card 3"/>
          <p:cNvSpPr/>
          <p:nvPr/>
        </p:nvSpPr>
        <p:spPr>
          <a:xfrm>
            <a:off x="6196582" y="1664208"/>
            <a:ext cx="2531363" cy="4315968"/>
          </a:xfrm>
          <a:prstGeom prst="roundRect">
            <a:avLst/>
          </a:prstGeom>
          <a:solidFill>
            <a:srgbClr val="EBEFF3"/>
          </a:solidFill>
          <a:ln w="12700">
            <a:solidFill>
              <a:srgbClr val="9C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etric Accent 3"/>
          <p:cNvSpPr/>
          <p:nvPr/>
        </p:nvSpPr>
        <p:spPr>
          <a:xfrm>
            <a:off x="6196582" y="1664208"/>
            <a:ext cx="2531363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tric Value 3"/>
          <p:cNvSpPr txBox="1"/>
          <p:nvPr/>
        </p:nvSpPr>
        <p:spPr>
          <a:xfrm>
            <a:off x="6397750" y="2057400"/>
            <a:ext cx="21290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F4E79"/>
                </a:solidFill>
                <a:latin typeface="微软雅黑"/>
              </a:rPr>
              <a:t>890 万 → 1150 万</a:t>
            </a:r>
          </a:p>
        </p:txBody>
      </p:sp>
      <p:sp>
        <p:nvSpPr>
          <p:cNvPr id="18" name="Metric Label 3"/>
          <p:cNvSpPr txBox="1"/>
          <p:nvPr/>
        </p:nvSpPr>
        <p:spPr>
          <a:xfrm>
            <a:off x="6397750" y="3108960"/>
            <a:ext cx="21290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收入</a:t>
            </a:r>
          </a:p>
        </p:txBody>
      </p:sp>
      <p:sp>
        <p:nvSpPr>
          <p:cNvPr id="19" name="Metric Description 3"/>
          <p:cNvSpPr txBox="1"/>
          <p:nvPr/>
        </p:nvSpPr>
        <p:spPr>
          <a:xfrm>
            <a:off x="6452614" y="3913632"/>
            <a:ext cx="201929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收入随用户规模同步提升，但需要结合付费率一起看增长质量。</a:t>
            </a:r>
          </a:p>
        </p:txBody>
      </p:sp>
      <p:sp>
        <p:nvSpPr>
          <p:cNvPr id="20" name="Metric Card 4"/>
          <p:cNvSpPr/>
          <p:nvPr/>
        </p:nvSpPr>
        <p:spPr>
          <a:xfrm>
            <a:off x="8929113" y="1664208"/>
            <a:ext cx="2531363" cy="4315968"/>
          </a:xfrm>
          <a:prstGeom prst="roundRect">
            <a:avLst/>
          </a:prstGeom>
          <a:solidFill>
            <a:srgbClr val="ECF4F7"/>
          </a:solidFill>
          <a:ln w="12700">
            <a:solidFill>
              <a:srgbClr val="A3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ric Accent 4"/>
          <p:cNvSpPr/>
          <p:nvPr/>
        </p:nvSpPr>
        <p:spPr>
          <a:xfrm>
            <a:off x="8929113" y="1664208"/>
            <a:ext cx="2531363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 Value 4"/>
          <p:cNvSpPr txBox="1"/>
          <p:nvPr/>
        </p:nvSpPr>
        <p:spPr>
          <a:xfrm>
            <a:off x="9130281" y="2057400"/>
            <a:ext cx="212902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86AB"/>
                </a:solidFill>
                <a:latin typeface="微软雅黑"/>
              </a:rPr>
              <a:t>620 万 → 810 万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130281" y="3108960"/>
            <a:ext cx="21290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成本</a:t>
            </a:r>
          </a:p>
        </p:txBody>
      </p:sp>
      <p:sp>
        <p:nvSpPr>
          <p:cNvPr id="24" name="Metric Description 4"/>
          <p:cNvSpPr txBox="1"/>
          <p:nvPr/>
        </p:nvSpPr>
        <p:spPr>
          <a:xfrm>
            <a:off x="9185145" y="3913632"/>
            <a:ext cx="201929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成本上升的幅度略快于收入，投入产出效率是本季度的主要疑问。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wo Column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F4E79"/>
                </a:solidFill>
                <a:latin typeface="微软雅黑"/>
              </a:rPr>
              <a:t>把增长、留存、收入、成本放在同一张图上看</a:t>
            </a:r>
          </a:p>
        </p:txBody>
      </p:sp>
      <p:sp>
        <p:nvSpPr>
          <p:cNvPr id="3" name="Two Column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wo Column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wo Column Left Panel"/>
          <p:cNvSpPr/>
          <p:nvPr/>
        </p:nvSpPr>
        <p:spPr>
          <a:xfrm>
            <a:off x="731520" y="1481328"/>
            <a:ext cx="5209031" cy="4709160"/>
          </a:xfrm>
          <a:prstGeom prst="roundRect">
            <a:avLst/>
          </a:prstGeom>
          <a:solidFill>
            <a:srgbClr val="EBEFF3"/>
          </a:solidFill>
          <a:ln w="12700">
            <a:solidFill>
              <a:srgbClr val="A1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wo Column Left Header"/>
          <p:cNvSpPr/>
          <p:nvPr/>
        </p:nvSpPr>
        <p:spPr>
          <a:xfrm>
            <a:off x="731520" y="1481328"/>
            <a:ext cx="5209031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wo Column Left Title"/>
          <p:cNvSpPr txBox="1"/>
          <p:nvPr/>
        </p:nvSpPr>
        <p:spPr>
          <a:xfrm>
            <a:off x="987552" y="1572768"/>
            <a:ext cx="46969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用户增长与留存</a:t>
            </a:r>
          </a:p>
        </p:txBody>
      </p:sp>
      <p:sp>
        <p:nvSpPr>
          <p:cNvPr id="8" name="Two Column Left Bullet 1"/>
          <p:cNvSpPr/>
          <p:nvPr/>
        </p:nvSpPr>
        <p:spPr>
          <a:xfrm>
            <a:off x="1024128" y="261518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wo Column Left Item 1"/>
          <p:cNvSpPr txBox="1"/>
          <p:nvPr/>
        </p:nvSpPr>
        <p:spPr>
          <a:xfrm>
            <a:off x="1298448" y="246888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MAU 从 120 万提升到 185 万，规模增长是本季度的主要成绩。</a:t>
            </a:r>
          </a:p>
        </p:txBody>
      </p:sp>
      <p:sp>
        <p:nvSpPr>
          <p:cNvPr id="10" name="Two Column Left Bullet 2"/>
          <p:cNvSpPr/>
          <p:nvPr/>
        </p:nvSpPr>
        <p:spPr>
          <a:xfrm>
            <a:off x="1024128" y="348386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wo Column Left Item 2"/>
          <p:cNvSpPr txBox="1"/>
          <p:nvPr/>
        </p:nvSpPr>
        <p:spPr>
          <a:xfrm>
            <a:off x="1298448" y="333756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付费率从 3.2% 降到 2.8%，说明新增用户还没有被有效转化为付费用户。</a:t>
            </a:r>
          </a:p>
        </p:txBody>
      </p:sp>
      <p:sp>
        <p:nvSpPr>
          <p:cNvPr id="12" name="Two Column Left Bullet 3"/>
          <p:cNvSpPr/>
          <p:nvPr/>
        </p:nvSpPr>
        <p:spPr>
          <a:xfrm>
            <a:off x="1024128" y="435254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wo Column Left Item 3"/>
          <p:cNvSpPr txBox="1"/>
          <p:nvPr/>
        </p:nvSpPr>
        <p:spPr>
          <a:xfrm>
            <a:off x="1298448" y="420624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留存不能只看总量，需要按用户来源和活跃分层去判断真实质量。</a:t>
            </a:r>
          </a:p>
        </p:txBody>
      </p:sp>
      <p:sp>
        <p:nvSpPr>
          <p:cNvPr id="14" name="Two Column Left Bullet 4"/>
          <p:cNvSpPr/>
          <p:nvPr/>
        </p:nvSpPr>
        <p:spPr>
          <a:xfrm>
            <a:off x="1024128" y="522122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wo Column Left Item 4"/>
          <p:cNvSpPr txBox="1"/>
          <p:nvPr/>
        </p:nvSpPr>
        <p:spPr>
          <a:xfrm>
            <a:off x="1298448" y="507492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结论：增长的入口是打开的，但增长的下游转化链条存在断点。</a:t>
            </a:r>
          </a:p>
        </p:txBody>
      </p:sp>
      <p:sp>
        <p:nvSpPr>
          <p:cNvPr id="16" name="Two Column Right Panel"/>
          <p:cNvSpPr/>
          <p:nvPr/>
        </p:nvSpPr>
        <p:spPr>
          <a:xfrm>
            <a:off x="6251447" y="1481328"/>
            <a:ext cx="5209031" cy="4709160"/>
          </a:xfrm>
          <a:prstGeom prst="roundRect">
            <a:avLst/>
          </a:prstGeom>
          <a:solidFill>
            <a:srgbClr val="ECF4F7"/>
          </a:solidFill>
          <a:ln w="12700">
            <a:solidFill>
              <a:srgbClr val="A7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wo Column Right Header"/>
          <p:cNvSpPr/>
          <p:nvPr/>
        </p:nvSpPr>
        <p:spPr>
          <a:xfrm>
            <a:off x="6251447" y="1481328"/>
            <a:ext cx="5209031" cy="7132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wo Column Right Title"/>
          <p:cNvSpPr txBox="1"/>
          <p:nvPr/>
        </p:nvSpPr>
        <p:spPr>
          <a:xfrm>
            <a:off x="6507479" y="1572768"/>
            <a:ext cx="46969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收入与成本</a:t>
            </a:r>
          </a:p>
        </p:txBody>
      </p:sp>
      <p:sp>
        <p:nvSpPr>
          <p:cNvPr id="19" name="Two Column Right Bullet 1"/>
          <p:cNvSpPr/>
          <p:nvPr/>
        </p:nvSpPr>
        <p:spPr>
          <a:xfrm>
            <a:off x="6544055" y="261518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wo Column Right Item 1"/>
          <p:cNvSpPr txBox="1"/>
          <p:nvPr/>
        </p:nvSpPr>
        <p:spPr>
          <a:xfrm>
            <a:off x="6818375" y="246888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收入从 890 万提升到 1150 万，整体保持了向上的趋势。</a:t>
            </a:r>
          </a:p>
        </p:txBody>
      </p:sp>
      <p:sp>
        <p:nvSpPr>
          <p:cNvPr id="21" name="Two Column Right Bullet 2"/>
          <p:cNvSpPr/>
          <p:nvPr/>
        </p:nvSpPr>
        <p:spPr>
          <a:xfrm>
            <a:off x="6544055" y="348386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wo Column Right Item 2"/>
          <p:cNvSpPr txBox="1"/>
          <p:nvPr/>
        </p:nvSpPr>
        <p:spPr>
          <a:xfrm>
            <a:off x="6818375" y="333756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成本从 620 万提升到 810 万，增速略快于收入。</a:t>
            </a:r>
          </a:p>
        </p:txBody>
      </p:sp>
      <p:sp>
        <p:nvSpPr>
          <p:cNvPr id="23" name="Two Column Right Bullet 3"/>
          <p:cNvSpPr/>
          <p:nvPr/>
        </p:nvSpPr>
        <p:spPr>
          <a:xfrm>
            <a:off x="6544055" y="435254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wo Column Right Item 3"/>
          <p:cNvSpPr txBox="1"/>
          <p:nvPr/>
        </p:nvSpPr>
        <p:spPr>
          <a:xfrm>
            <a:off x="6818375" y="420624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收入结构需要拆开看：多少来自规模扩张，多少来自单价或效率提升。</a:t>
            </a:r>
          </a:p>
        </p:txBody>
      </p:sp>
      <p:sp>
        <p:nvSpPr>
          <p:cNvPr id="25" name="Two Column Right Bullet 4"/>
          <p:cNvSpPr/>
          <p:nvPr/>
        </p:nvSpPr>
        <p:spPr>
          <a:xfrm>
            <a:off x="6544055" y="522122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wo Column Right Item 4"/>
          <p:cNvSpPr txBox="1"/>
          <p:nvPr/>
        </p:nvSpPr>
        <p:spPr>
          <a:xfrm>
            <a:off x="6818375" y="5074920"/>
            <a:ext cx="436778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结论：Q4 的关键不是继续堆规模，而是把单位投入的产出拉回来。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llet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F4E79"/>
                </a:solidFill>
                <a:latin typeface="微软雅黑"/>
              </a:rPr>
              <a:t>三个未达预期的项目：把复盘焦点放在机制上</a:t>
            </a:r>
          </a:p>
        </p:txBody>
      </p:sp>
      <p:sp>
        <p:nvSpPr>
          <p:cNvPr id="3" name="Bullet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ullet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ullet Card 1"/>
          <p:cNvSpPr/>
          <p:nvPr/>
        </p:nvSpPr>
        <p:spPr>
          <a:xfrm>
            <a:off x="731520" y="1572768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Number 1 Circle"/>
          <p:cNvSpPr/>
          <p:nvPr/>
        </p:nvSpPr>
        <p:spPr>
          <a:xfrm>
            <a:off x="960120" y="1929384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 Number 1 Text"/>
          <p:cNvSpPr txBox="1"/>
          <p:nvPr/>
        </p:nvSpPr>
        <p:spPr>
          <a:xfrm>
            <a:off x="960120" y="1929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Bullet Text 1"/>
          <p:cNvSpPr txBox="1"/>
          <p:nvPr/>
        </p:nvSpPr>
        <p:spPr>
          <a:xfrm>
            <a:off x="1572768" y="1645920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需求验证：立项阶段的关键假设，是否经过了真实使用场景的检验。</a:t>
            </a:r>
          </a:p>
        </p:txBody>
      </p:sp>
      <p:sp>
        <p:nvSpPr>
          <p:cNvPr id="9" name="Bullet Card 2"/>
          <p:cNvSpPr/>
          <p:nvPr/>
        </p:nvSpPr>
        <p:spPr>
          <a:xfrm>
            <a:off x="731520" y="2779776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 Number 2 Circle"/>
          <p:cNvSpPr/>
          <p:nvPr/>
        </p:nvSpPr>
        <p:spPr>
          <a:xfrm>
            <a:off x="960120" y="3136392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 Number 2 Text"/>
          <p:cNvSpPr txBox="1"/>
          <p:nvPr/>
        </p:nvSpPr>
        <p:spPr>
          <a:xfrm>
            <a:off x="960120" y="31363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2" name="Bullet Text 2"/>
          <p:cNvSpPr txBox="1"/>
          <p:nvPr/>
        </p:nvSpPr>
        <p:spPr>
          <a:xfrm>
            <a:off x="1572768" y="2852928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上线节奏：关键节点是否错过了合适的窗口期，导致后续追赶代价变大。</a:t>
            </a:r>
          </a:p>
        </p:txBody>
      </p:sp>
      <p:sp>
        <p:nvSpPr>
          <p:cNvPr id="13" name="Bullet Card 3"/>
          <p:cNvSpPr/>
          <p:nvPr/>
        </p:nvSpPr>
        <p:spPr>
          <a:xfrm>
            <a:off x="731520" y="3986784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 Number 3 Circle"/>
          <p:cNvSpPr/>
          <p:nvPr/>
        </p:nvSpPr>
        <p:spPr>
          <a:xfrm>
            <a:off x="960120" y="434340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 Number 3 Text"/>
          <p:cNvSpPr txBox="1"/>
          <p:nvPr/>
        </p:nvSpPr>
        <p:spPr>
          <a:xfrm>
            <a:off x="960120" y="4343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6" name="Bullet Text 3"/>
          <p:cNvSpPr txBox="1"/>
          <p:nvPr/>
        </p:nvSpPr>
        <p:spPr>
          <a:xfrm>
            <a:off x="1572768" y="4059936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资源投入：人力是否同时铺在过多方向上，被摊薄到无法形成突破。</a:t>
            </a:r>
          </a:p>
        </p:txBody>
      </p:sp>
      <p:sp>
        <p:nvSpPr>
          <p:cNvPr id="17" name="Bullet Card 4"/>
          <p:cNvSpPr/>
          <p:nvPr/>
        </p:nvSpPr>
        <p:spPr>
          <a:xfrm>
            <a:off x="731520" y="5193792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llet Number 4 Circle"/>
          <p:cNvSpPr/>
          <p:nvPr/>
        </p:nvSpPr>
        <p:spPr>
          <a:xfrm>
            <a:off x="960120" y="5550408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llet Number 4 Text"/>
          <p:cNvSpPr txBox="1"/>
          <p:nvPr/>
        </p:nvSpPr>
        <p:spPr>
          <a:xfrm>
            <a:off x="960120" y="55504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0" name="Bullet Text 4"/>
          <p:cNvSpPr txBox="1"/>
          <p:nvPr/>
        </p:nvSpPr>
        <p:spPr>
          <a:xfrm>
            <a:off x="1572768" y="5266944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止损机制：项目是否设定了明确的降级与退出标准，避免长期消耗。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llet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F4E79"/>
                </a:solidFill>
                <a:latin typeface="微软雅黑"/>
              </a:rPr>
              <a:t>两个达成预期的项目：可复制的是做法，不是运气</a:t>
            </a:r>
          </a:p>
        </p:txBody>
      </p:sp>
      <p:sp>
        <p:nvSpPr>
          <p:cNvPr id="3" name="Bullet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ullet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ullet Card 1"/>
          <p:cNvSpPr/>
          <p:nvPr/>
        </p:nvSpPr>
        <p:spPr>
          <a:xfrm>
            <a:off x="731520" y="1572768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Number 1 Circle"/>
          <p:cNvSpPr/>
          <p:nvPr/>
        </p:nvSpPr>
        <p:spPr>
          <a:xfrm>
            <a:off x="960120" y="1929384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 Number 1 Text"/>
          <p:cNvSpPr txBox="1"/>
          <p:nvPr/>
        </p:nvSpPr>
        <p:spPr>
          <a:xfrm>
            <a:off x="960120" y="1929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Bullet Text 1"/>
          <p:cNvSpPr txBox="1"/>
          <p:nvPr/>
        </p:nvSpPr>
        <p:spPr>
          <a:xfrm>
            <a:off x="1572768" y="1645920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共同点一：立项时就写清了可验证的成功标准，过程中持续校准而不是年底对账。</a:t>
            </a:r>
          </a:p>
        </p:txBody>
      </p:sp>
      <p:sp>
        <p:nvSpPr>
          <p:cNvPr id="9" name="Bullet Card 2"/>
          <p:cNvSpPr/>
          <p:nvPr/>
        </p:nvSpPr>
        <p:spPr>
          <a:xfrm>
            <a:off x="731520" y="2779776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 Number 2 Circle"/>
          <p:cNvSpPr/>
          <p:nvPr/>
        </p:nvSpPr>
        <p:spPr>
          <a:xfrm>
            <a:off x="960120" y="3136392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 Number 2 Text"/>
          <p:cNvSpPr txBox="1"/>
          <p:nvPr/>
        </p:nvSpPr>
        <p:spPr>
          <a:xfrm>
            <a:off x="960120" y="31363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2" name="Bullet Text 2"/>
          <p:cNvSpPr txBox="1"/>
          <p:nvPr/>
        </p:nvSpPr>
        <p:spPr>
          <a:xfrm>
            <a:off x="1572768" y="2852928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共同点二：资源相对集中，决策链路短，关键问题能快速拍板。</a:t>
            </a:r>
          </a:p>
        </p:txBody>
      </p:sp>
      <p:sp>
        <p:nvSpPr>
          <p:cNvPr id="13" name="Bullet Card 3"/>
          <p:cNvSpPr/>
          <p:nvPr/>
        </p:nvSpPr>
        <p:spPr>
          <a:xfrm>
            <a:off x="731520" y="3986784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 Number 3 Circle"/>
          <p:cNvSpPr/>
          <p:nvPr/>
        </p:nvSpPr>
        <p:spPr>
          <a:xfrm>
            <a:off x="960120" y="434340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 Number 3 Text"/>
          <p:cNvSpPr txBox="1"/>
          <p:nvPr/>
        </p:nvSpPr>
        <p:spPr>
          <a:xfrm>
            <a:off x="960120" y="4343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6" name="Bullet Text 3"/>
          <p:cNvSpPr txBox="1"/>
          <p:nvPr/>
        </p:nvSpPr>
        <p:spPr>
          <a:xfrm>
            <a:off x="1572768" y="4059936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共同点三：过程中对方向做过削减，把资源留给确定性更高的部分。</a:t>
            </a:r>
          </a:p>
        </p:txBody>
      </p:sp>
      <p:sp>
        <p:nvSpPr>
          <p:cNvPr id="17" name="Bullet Card 4"/>
          <p:cNvSpPr/>
          <p:nvPr/>
        </p:nvSpPr>
        <p:spPr>
          <a:xfrm>
            <a:off x="731520" y="5193792"/>
            <a:ext cx="10728959" cy="109728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0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llet Number 4 Circle"/>
          <p:cNvSpPr/>
          <p:nvPr/>
        </p:nvSpPr>
        <p:spPr>
          <a:xfrm>
            <a:off x="960120" y="5550408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llet Number 4 Text"/>
          <p:cNvSpPr txBox="1"/>
          <p:nvPr/>
        </p:nvSpPr>
        <p:spPr>
          <a:xfrm>
            <a:off x="960120" y="55504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0" name="Bullet Text 4"/>
          <p:cNvSpPr txBox="1"/>
          <p:nvPr/>
        </p:nvSpPr>
        <p:spPr>
          <a:xfrm>
            <a:off x="1572768" y="5266944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沉淀动作：把这三条做法写成可复用的立项与推进检查项。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wo Column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F4E79"/>
                </a:solidFill>
                <a:latin typeface="微软雅黑"/>
              </a:rPr>
              <a:t>内部组织与外部环境：都在要求我们做减法</a:t>
            </a:r>
          </a:p>
        </p:txBody>
      </p:sp>
      <p:sp>
        <p:nvSpPr>
          <p:cNvPr id="3" name="Two Column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wo Column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wo Column Left Panel"/>
          <p:cNvSpPr/>
          <p:nvPr/>
        </p:nvSpPr>
        <p:spPr>
          <a:xfrm>
            <a:off x="731520" y="1481328"/>
            <a:ext cx="5209031" cy="4709160"/>
          </a:xfrm>
          <a:prstGeom prst="roundRect">
            <a:avLst/>
          </a:prstGeom>
          <a:solidFill>
            <a:srgbClr val="EBEFF3"/>
          </a:solidFill>
          <a:ln w="12700">
            <a:solidFill>
              <a:srgbClr val="A1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wo Column Left Header"/>
          <p:cNvSpPr/>
          <p:nvPr/>
        </p:nvSpPr>
        <p:spPr>
          <a:xfrm>
            <a:off x="731520" y="1481328"/>
            <a:ext cx="5209031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wo Column Left Title"/>
          <p:cNvSpPr txBox="1"/>
          <p:nvPr/>
        </p:nvSpPr>
        <p:spPr>
          <a:xfrm>
            <a:off x="987552" y="1572768"/>
            <a:ext cx="46969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团队变动、招聘进展与组织调整</a:t>
            </a:r>
          </a:p>
        </p:txBody>
      </p:sp>
      <p:sp>
        <p:nvSpPr>
          <p:cNvPr id="8" name="Two Column Left Bullet 1"/>
          <p:cNvSpPr/>
          <p:nvPr/>
        </p:nvSpPr>
        <p:spPr>
          <a:xfrm>
            <a:off x="1024128" y="261518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wo Column Left Item 1"/>
          <p:cNvSpPr txBox="1"/>
          <p:nvPr/>
        </p:nvSpPr>
        <p:spPr>
          <a:xfrm>
            <a:off x="1298448" y="246888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团队变动：季度内核心成员的角色与协作方式发生了变化，需要重新对齐预期。</a:t>
            </a:r>
          </a:p>
        </p:txBody>
      </p:sp>
      <p:sp>
        <p:nvSpPr>
          <p:cNvPr id="10" name="Two Column Left Bullet 2"/>
          <p:cNvSpPr/>
          <p:nvPr/>
        </p:nvSpPr>
        <p:spPr>
          <a:xfrm>
            <a:off x="1024128" y="377342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wo Column Left Item 2"/>
          <p:cNvSpPr txBox="1"/>
          <p:nvPr/>
        </p:nvSpPr>
        <p:spPr>
          <a:xfrm>
            <a:off x="1298448" y="362712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招聘进展：关键岗位的补位仍在推进，落地节奏直接影响 Q4 的排期。</a:t>
            </a:r>
          </a:p>
        </p:txBody>
      </p:sp>
      <p:sp>
        <p:nvSpPr>
          <p:cNvPr id="12" name="Two Column Left Bullet 3"/>
          <p:cNvSpPr/>
          <p:nvPr/>
        </p:nvSpPr>
        <p:spPr>
          <a:xfrm>
            <a:off x="1024128" y="4931664"/>
            <a:ext cx="128016" cy="128016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wo Column Left Item 3"/>
          <p:cNvSpPr txBox="1"/>
          <p:nvPr/>
        </p:nvSpPr>
        <p:spPr>
          <a:xfrm>
            <a:off x="1298448" y="478536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组织调整：围绕 Q4 目标重新划分职责边界，减少跨团队的空档与重复。</a:t>
            </a:r>
          </a:p>
        </p:txBody>
      </p:sp>
      <p:sp>
        <p:nvSpPr>
          <p:cNvPr id="14" name="Two Column Right Panel"/>
          <p:cNvSpPr/>
          <p:nvPr/>
        </p:nvSpPr>
        <p:spPr>
          <a:xfrm>
            <a:off x="6251447" y="1481328"/>
            <a:ext cx="5209031" cy="4709160"/>
          </a:xfrm>
          <a:prstGeom prst="roundRect">
            <a:avLst/>
          </a:prstGeom>
          <a:solidFill>
            <a:srgbClr val="ECF4F7"/>
          </a:solidFill>
          <a:ln w="12700">
            <a:solidFill>
              <a:srgbClr val="A7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wo Column Right Header"/>
          <p:cNvSpPr/>
          <p:nvPr/>
        </p:nvSpPr>
        <p:spPr>
          <a:xfrm>
            <a:off x="6251447" y="1481328"/>
            <a:ext cx="5209031" cy="7132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wo Column Right Title"/>
          <p:cNvSpPr txBox="1"/>
          <p:nvPr/>
        </p:nvSpPr>
        <p:spPr>
          <a:xfrm>
            <a:off x="6507479" y="1572768"/>
            <a:ext cx="46969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竞品动态与技术债</a:t>
            </a:r>
          </a:p>
        </p:txBody>
      </p:sp>
      <p:sp>
        <p:nvSpPr>
          <p:cNvPr id="17" name="Two Column Right Bullet 1"/>
          <p:cNvSpPr/>
          <p:nvPr/>
        </p:nvSpPr>
        <p:spPr>
          <a:xfrm>
            <a:off x="6544055" y="261518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wo Column Right Item 1"/>
          <p:cNvSpPr txBox="1"/>
          <p:nvPr/>
        </p:nvSpPr>
        <p:spPr>
          <a:xfrm>
            <a:off x="6818375" y="246888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竞品动态：对手在产品与增长上的动作在加快，需要持续跟踪关键变化并及时响应。</a:t>
            </a:r>
          </a:p>
        </p:txBody>
      </p:sp>
      <p:sp>
        <p:nvSpPr>
          <p:cNvPr id="19" name="Two Column Right Bullet 2"/>
          <p:cNvSpPr/>
          <p:nvPr/>
        </p:nvSpPr>
        <p:spPr>
          <a:xfrm>
            <a:off x="6544055" y="377342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wo Column Right Item 2"/>
          <p:cNvSpPr txBox="1"/>
          <p:nvPr/>
        </p:nvSpPr>
        <p:spPr>
          <a:xfrm>
            <a:off x="6818375" y="362712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技术债：长期积累的维护成本正在挤占新功能的投入空间。</a:t>
            </a:r>
          </a:p>
        </p:txBody>
      </p:sp>
      <p:sp>
        <p:nvSpPr>
          <p:cNvPr id="21" name="Two Column Right Bullet 3"/>
          <p:cNvSpPr/>
          <p:nvPr/>
        </p:nvSpPr>
        <p:spPr>
          <a:xfrm>
            <a:off x="6544055" y="4931664"/>
            <a:ext cx="128016" cy="128016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wo Column Right Item 3"/>
          <p:cNvSpPr txBox="1"/>
          <p:nvPr/>
        </p:nvSpPr>
        <p:spPr>
          <a:xfrm>
            <a:off x="6818375" y="478536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共同指向：Q4 必须把有限资源压在确定性最高的方向上，而不是全面铺开。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ces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F4E79"/>
                </a:solidFill>
                <a:latin typeface="微软雅黑"/>
              </a:rPr>
              <a:t>Q4 计划：四步把增长质量拉回来</a:t>
            </a:r>
          </a:p>
        </p:txBody>
      </p:sp>
      <p:sp>
        <p:nvSpPr>
          <p:cNvPr id="3" name="Proces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ces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cess Arrow 1"/>
          <p:cNvSpPr/>
          <p:nvPr/>
        </p:nvSpPr>
        <p:spPr>
          <a:xfrm>
            <a:off x="3272027" y="3401568"/>
            <a:ext cx="155448" cy="329184"/>
          </a:xfrm>
          <a:prstGeom prst="chevron">
            <a:avLst/>
          </a:prstGeom>
          <a:solidFill>
            <a:srgbClr val="549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cess Arrow 2"/>
          <p:cNvSpPr/>
          <p:nvPr/>
        </p:nvSpPr>
        <p:spPr>
          <a:xfrm>
            <a:off x="6018274" y="3401568"/>
            <a:ext cx="155448" cy="329184"/>
          </a:xfrm>
          <a:prstGeom prst="chevron">
            <a:avLst/>
          </a:prstGeom>
          <a:solidFill>
            <a:srgbClr val="549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cess Arrow 3"/>
          <p:cNvSpPr/>
          <p:nvPr/>
        </p:nvSpPr>
        <p:spPr>
          <a:xfrm>
            <a:off x="8764521" y="3401568"/>
            <a:ext cx="155448" cy="329184"/>
          </a:xfrm>
          <a:prstGeom prst="chevron">
            <a:avLst/>
          </a:prstGeom>
          <a:solidFill>
            <a:srgbClr val="549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cess Card 1"/>
          <p:cNvSpPr/>
          <p:nvPr/>
        </p:nvSpPr>
        <p:spPr>
          <a:xfrm>
            <a:off x="731520" y="1737360"/>
            <a:ext cx="2490215" cy="425196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A1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cess Number 1 Circle"/>
          <p:cNvSpPr/>
          <p:nvPr/>
        </p:nvSpPr>
        <p:spPr>
          <a:xfrm>
            <a:off x="1720595" y="2011680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cess Number 1 Text"/>
          <p:cNvSpPr txBox="1"/>
          <p:nvPr/>
        </p:nvSpPr>
        <p:spPr>
          <a:xfrm>
            <a:off x="1720595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Process Step Title 1"/>
          <p:cNvSpPr txBox="1"/>
          <p:nvPr/>
        </p:nvSpPr>
        <p:spPr>
          <a:xfrm>
            <a:off x="859536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第一步：修复付费转化</a:t>
            </a:r>
          </a:p>
        </p:txBody>
      </p:sp>
      <p:sp>
        <p:nvSpPr>
          <p:cNvPr id="12" name="Process Description 1"/>
          <p:cNvSpPr txBox="1"/>
          <p:nvPr/>
        </p:nvSpPr>
        <p:spPr>
          <a:xfrm>
            <a:off x="877824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拆解从新增用户到付费的完整漏斗，定位付费率从 3.2% 降到 2.8% 的断点，优先补转化链路。</a:t>
            </a:r>
          </a:p>
        </p:txBody>
      </p:sp>
      <p:sp>
        <p:nvSpPr>
          <p:cNvPr id="13" name="Process Card 2"/>
          <p:cNvSpPr/>
          <p:nvPr/>
        </p:nvSpPr>
        <p:spPr>
          <a:xfrm>
            <a:off x="3477767" y="1737360"/>
            <a:ext cx="2490215" cy="4251960"/>
          </a:xfrm>
          <a:prstGeom prst="roundRect">
            <a:avLst/>
          </a:prstGeom>
          <a:solidFill>
            <a:srgbClr val="EEF5F8"/>
          </a:solidFill>
          <a:ln w="12700">
            <a:solidFill>
              <a:srgbClr val="A7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cess Number 2 Circle"/>
          <p:cNvSpPr/>
          <p:nvPr/>
        </p:nvSpPr>
        <p:spPr>
          <a:xfrm>
            <a:off x="4466842" y="2011680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cess Number 2 Text"/>
          <p:cNvSpPr txBox="1"/>
          <p:nvPr/>
        </p:nvSpPr>
        <p:spPr>
          <a:xfrm>
            <a:off x="4466842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Process Step Title 2"/>
          <p:cNvSpPr txBox="1"/>
          <p:nvPr/>
        </p:nvSpPr>
        <p:spPr>
          <a:xfrm>
            <a:off x="3605783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第二步：控制成本增速</a:t>
            </a:r>
          </a:p>
        </p:txBody>
      </p:sp>
      <p:sp>
        <p:nvSpPr>
          <p:cNvPr id="17" name="Process Description 2"/>
          <p:cNvSpPr txBox="1"/>
          <p:nvPr/>
        </p:nvSpPr>
        <p:spPr>
          <a:xfrm>
            <a:off x="3624071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按项目核算投入产出，对低效投入设定明确的降级与退出标准，让成本增速回到收入增速之下。</a:t>
            </a:r>
          </a:p>
        </p:txBody>
      </p:sp>
      <p:sp>
        <p:nvSpPr>
          <p:cNvPr id="18" name="Process Card 3"/>
          <p:cNvSpPr/>
          <p:nvPr/>
        </p:nvSpPr>
        <p:spPr>
          <a:xfrm>
            <a:off x="6224014" y="1737360"/>
            <a:ext cx="2490215" cy="425196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A1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cess Number 3 Circle"/>
          <p:cNvSpPr/>
          <p:nvPr/>
        </p:nvSpPr>
        <p:spPr>
          <a:xfrm>
            <a:off x="7213089" y="2011680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ocess Number 3 Text"/>
          <p:cNvSpPr txBox="1"/>
          <p:nvPr/>
        </p:nvSpPr>
        <p:spPr>
          <a:xfrm>
            <a:off x="7213089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Process Step Title 3"/>
          <p:cNvSpPr txBox="1"/>
          <p:nvPr/>
        </p:nvSpPr>
        <p:spPr>
          <a:xfrm>
            <a:off x="6352030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第三步：偿还技术债</a:t>
            </a:r>
          </a:p>
        </p:txBody>
      </p:sp>
      <p:sp>
        <p:nvSpPr>
          <p:cNvPr id="22" name="Process Description 3"/>
          <p:cNvSpPr txBox="1"/>
          <p:nvPr/>
        </p:nvSpPr>
        <p:spPr>
          <a:xfrm>
            <a:off x="6370318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按影响面给技术债排序，固定投入比例持续偿还，避免在关键节点集中爆发。</a:t>
            </a:r>
          </a:p>
        </p:txBody>
      </p:sp>
      <p:sp>
        <p:nvSpPr>
          <p:cNvPr id="23" name="Process Card 4"/>
          <p:cNvSpPr/>
          <p:nvPr/>
        </p:nvSpPr>
        <p:spPr>
          <a:xfrm>
            <a:off x="8970261" y="1737360"/>
            <a:ext cx="2490215" cy="4251960"/>
          </a:xfrm>
          <a:prstGeom prst="roundRect">
            <a:avLst/>
          </a:prstGeom>
          <a:solidFill>
            <a:srgbClr val="EEF5F8"/>
          </a:solidFill>
          <a:ln w="12700">
            <a:solidFill>
              <a:srgbClr val="A7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ocess Number 4 Circle"/>
          <p:cNvSpPr/>
          <p:nvPr/>
        </p:nvSpPr>
        <p:spPr>
          <a:xfrm>
            <a:off x="9959336" y="2011680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cess Number 4 Text"/>
          <p:cNvSpPr txBox="1"/>
          <p:nvPr/>
        </p:nvSpPr>
        <p:spPr>
          <a:xfrm>
            <a:off x="9959336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Process Step Title 4"/>
          <p:cNvSpPr txBox="1"/>
          <p:nvPr/>
        </p:nvSpPr>
        <p:spPr>
          <a:xfrm>
            <a:off x="9098277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第四步：补齐关键岗位</a:t>
            </a:r>
          </a:p>
        </p:txBody>
      </p:sp>
      <p:sp>
        <p:nvSpPr>
          <p:cNvPr id="27" name="Process Description 4"/>
          <p:cNvSpPr txBox="1"/>
          <p:nvPr/>
        </p:nvSpPr>
        <p:spPr>
          <a:xfrm>
            <a:off x="9116565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把招聘与组织调整和 Q4 目标对齐，优先保障关键路径上的人和职责清晰。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ing Top Accent"/>
          <p:cNvSpPr/>
          <p:nvPr/>
        </p:nvSpPr>
        <p:spPr>
          <a:xfrm>
            <a:off x="731520" y="502920"/>
            <a:ext cx="1691640" cy="1188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sing Bottom Accent"/>
          <p:cNvSpPr/>
          <p:nvPr/>
        </p:nvSpPr>
        <p:spPr>
          <a:xfrm>
            <a:off x="9235440" y="6144768"/>
            <a:ext cx="2221992" cy="1828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sing Decorative Circle Large"/>
          <p:cNvSpPr/>
          <p:nvPr/>
        </p:nvSpPr>
        <p:spPr>
          <a:xfrm>
            <a:off x="914400" y="4526280"/>
            <a:ext cx="1115568" cy="1115568"/>
          </a:xfrm>
          <a:prstGeom prst="ellipse">
            <a:avLst/>
          </a:prstGeom>
          <a:solidFill>
            <a:srgbClr val="29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sing Decorative Circle Small"/>
          <p:cNvSpPr/>
          <p:nvPr/>
        </p:nvSpPr>
        <p:spPr>
          <a:xfrm>
            <a:off x="1920240" y="544068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sing Title"/>
          <p:cNvSpPr txBox="1"/>
          <p:nvPr/>
        </p:nvSpPr>
        <p:spPr>
          <a:xfrm>
            <a:off x="1097280" y="1554480"/>
            <a:ext cx="9966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微软雅黑"/>
              </a:rPr>
              <a:t>Q3 的结论：增长要留下来，投入要算得清</a:t>
            </a:r>
          </a:p>
        </p:txBody>
      </p:sp>
      <p:sp>
        <p:nvSpPr>
          <p:cNvPr id="7" name="Closing Center Accent"/>
          <p:cNvSpPr/>
          <p:nvPr/>
        </p:nvSpPr>
        <p:spPr>
          <a:xfrm>
            <a:off x="5074920" y="3182112"/>
            <a:ext cx="203911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ing Subtitle"/>
          <p:cNvSpPr txBox="1"/>
          <p:nvPr/>
        </p:nvSpPr>
        <p:spPr>
          <a:xfrm>
            <a:off x="1234440" y="3566160"/>
            <a:ext cx="9738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微软雅黑"/>
              </a:rPr>
              <a:t>下一步：确认 Q4 优先级、责任人与检查时点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业务复盘</dc:title>
  <dc:subject>复盘 Q3 的业务结果与项目得失，统一团队对问题的判断，并明确 Q4 的重点方向与行动安排。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